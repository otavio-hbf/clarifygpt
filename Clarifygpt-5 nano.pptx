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Bebas Neue Bold" charset="1" panose="020B0606020202050201"/>
      <p:regular r:id="rId23"/>
    </p:embeddedFont>
    <p:embeddedFont>
      <p:font typeface="Open Sans 1" charset="1" panose="00000000000000000000"/>
      <p:regular r:id="rId24"/>
    </p:embeddedFont>
    <p:embeddedFont>
      <p:font typeface="Open Sans 1 Bold" charset="1" panose="00000000000000000000"/>
      <p:regular r:id="rId25"/>
    </p:embeddedFont>
    <p:embeddedFont>
      <p:font typeface="Bebas Neue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41754"/>
            <a:ext cx="7828167" cy="4716546"/>
            <a:chOff x="0" y="0"/>
            <a:chExt cx="1159318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9318" cy="698500"/>
            </a:xfrm>
            <a:custGeom>
              <a:avLst/>
              <a:gdLst/>
              <a:ahLst/>
              <a:cxnLst/>
              <a:rect r="r" b="b" t="t" l="l"/>
              <a:pathLst>
                <a:path h="698500" w="1159318">
                  <a:moveTo>
                    <a:pt x="1159318" y="349250"/>
                  </a:moveTo>
                  <a:lnTo>
                    <a:pt x="95611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956118" y="0"/>
                  </a:lnTo>
                  <a:lnTo>
                    <a:pt x="1159318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59FF00">
                    <a:alpha val="100000"/>
                  </a:srgbClr>
                </a:gs>
                <a:gs pos="100000">
                  <a:srgbClr val="001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930718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52190" y="471938"/>
            <a:ext cx="4604817" cy="3957264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59FF00">
                    <a:alpha val="100000"/>
                  </a:srgbClr>
                </a:gs>
                <a:gs pos="100000">
                  <a:srgbClr val="001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7046" y="2520499"/>
            <a:ext cx="4704012" cy="4042510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59FF00">
                      <a:alpha val="100000"/>
                    </a:srgbClr>
                  </a:gs>
                  <a:gs pos="100000">
                    <a:srgbClr val="001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53342" y="6722745"/>
            <a:ext cx="8505958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D3AD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REVISITANDO O USO DO CLARIFYGPT COM O AVANÇO DE MODELOS DE IA E CONTEXTOS ATUAIS DE 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6549" y="1811226"/>
            <a:ext cx="8219726" cy="416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0"/>
              </a:lnSpc>
            </a:pPr>
            <a:r>
              <a:rPr lang="en-US" sz="11900" b="true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CLARIFYGPT-5 </a:t>
            </a:r>
          </a:p>
          <a:p>
            <a:pPr algn="l">
              <a:lnSpc>
                <a:spcPts val="16660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-735457" y="7237045"/>
            <a:ext cx="2352006" cy="2021255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59FF00">
                      <a:alpha val="100000"/>
                    </a:srgbClr>
                  </a:gs>
                  <a:gs pos="100000">
                    <a:srgbClr val="001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16472" y="-1010628"/>
            <a:ext cx="2352006" cy="2021255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59FF00">
                      <a:alpha val="100000"/>
                    </a:srgbClr>
                  </a:gs>
                  <a:gs pos="100000">
                    <a:srgbClr val="001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819741" y="5463015"/>
            <a:ext cx="4170118" cy="273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</a:p>
          <a:p>
            <a:pPr algn="l">
              <a:lnSpc>
                <a:spcPts val="3661"/>
              </a:lnSpc>
            </a:pPr>
            <a:r>
              <a:rPr lang="en-US" sz="261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Davi Dubeux &lt;dld2&gt;,</a:t>
            </a:r>
          </a:p>
          <a:p>
            <a:pPr algn="l">
              <a:lnSpc>
                <a:spcPts val="3661"/>
              </a:lnSpc>
            </a:pPr>
            <a:r>
              <a:rPr lang="en-US" sz="261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Marcela Asfora &lt;maa5&gt;,</a:t>
            </a:r>
          </a:p>
          <a:p>
            <a:pPr algn="l">
              <a:lnSpc>
                <a:spcPts val="3661"/>
              </a:lnSpc>
            </a:pPr>
            <a:r>
              <a:rPr lang="en-US" sz="261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Matheus Barney &lt;mbmg&gt;</a:t>
            </a:r>
          </a:p>
          <a:p>
            <a:pPr algn="l">
              <a:lnSpc>
                <a:spcPts val="3661"/>
              </a:lnSpc>
            </a:pPr>
            <a:r>
              <a:rPr lang="en-US" sz="261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Otávio Henrique&lt;ohbf&gt;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4801236" y="3007332"/>
            <a:ext cx="4697831" cy="4037198"/>
            <a:chOff x="0" y="0"/>
            <a:chExt cx="812800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59FF00">
                    <a:alpha val="7000"/>
                  </a:srgbClr>
                </a:gs>
                <a:gs pos="100000">
                  <a:srgbClr val="0019FF">
                    <a:alpha val="7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363893" y="-3449699"/>
            <a:ext cx="4841677" cy="4160816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59FF00">
                    <a:alpha val="7000"/>
                  </a:srgbClr>
                </a:gs>
                <a:gs pos="100000">
                  <a:srgbClr val="0019FF">
                    <a:alpha val="7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28700" y="1028700"/>
            <a:ext cx="513528" cy="513528"/>
          </a:xfrm>
          <a:custGeom>
            <a:avLst/>
            <a:gdLst/>
            <a:ahLst/>
            <a:cxnLst/>
            <a:rect r="r" b="b" t="t" l="l"/>
            <a:pathLst>
              <a:path h="513528" w="513528">
                <a:moveTo>
                  <a:pt x="0" y="0"/>
                </a:moveTo>
                <a:lnTo>
                  <a:pt x="513528" y="0"/>
                </a:lnTo>
                <a:lnTo>
                  <a:pt x="513528" y="513528"/>
                </a:lnTo>
                <a:lnTo>
                  <a:pt x="0" y="513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655297" y="9239250"/>
            <a:ext cx="2356378" cy="2025012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59FF00">
                    <a:alpha val="100000"/>
                  </a:srgbClr>
                </a:gs>
                <a:gs pos="100000">
                  <a:srgbClr val="001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7335503" y="9593196"/>
            <a:ext cx="717770" cy="34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  <a:spcBef>
                <a:spcPct val="0"/>
              </a:spcBef>
            </a:pPr>
            <a:r>
              <a:rPr lang="en-US" b="true" sz="202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-161925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CONTEXTUALIZAÇÃO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546103"/>
            <a:ext cx="16623564" cy="577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PONTO CHAVE: 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</a:t>
            </a: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Geração de Código por LLMs (como GPT-4) é poderosa e está encontrando lugar de destaque no auxílio de projetos de engenharia de software.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um grande problema na adaptação dessa ferramenta em construção para tarefas de código é que suas saídas têm sido vulneráveis à ambiguidade e insuficiência dos requisitos dados em linguagem natural.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142383" y="1071239"/>
            <a:ext cx="12003233" cy="139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PROBLEMA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14213" y="5248531"/>
            <a:ext cx="9042743" cy="4657012"/>
          </a:xfrm>
          <a:custGeom>
            <a:avLst/>
            <a:gdLst/>
            <a:ahLst/>
            <a:cxnLst/>
            <a:rect r="r" b="b" t="t" l="l"/>
            <a:pathLst>
              <a:path h="4657012" w="9042743">
                <a:moveTo>
                  <a:pt x="0" y="0"/>
                </a:moveTo>
                <a:lnTo>
                  <a:pt x="9042743" y="0"/>
                </a:lnTo>
                <a:lnTo>
                  <a:pt x="9042743" y="4657013"/>
                </a:lnTo>
                <a:lnTo>
                  <a:pt x="0" y="4657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57517" y="6681349"/>
            <a:ext cx="2719662" cy="2482310"/>
          </a:xfrm>
          <a:custGeom>
            <a:avLst/>
            <a:gdLst/>
            <a:ahLst/>
            <a:cxnLst/>
            <a:rect r="r" b="b" t="t" l="l"/>
            <a:pathLst>
              <a:path h="2482310" w="2719662">
                <a:moveTo>
                  <a:pt x="0" y="0"/>
                </a:moveTo>
                <a:lnTo>
                  <a:pt x="2719662" y="0"/>
                </a:lnTo>
                <a:lnTo>
                  <a:pt x="2719662" y="2482309"/>
                </a:lnTo>
                <a:lnTo>
                  <a:pt x="0" y="24823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2383" y="-161925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CONTEXTUALIZAÇÃO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46103"/>
            <a:ext cx="16623564" cy="255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IMPACTO: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Requisitos ambíguos levam à geração de código que não reflete a intenção original do usuário, exigindo debugging manual e retrabalho.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42383" y="1071239"/>
            <a:ext cx="12003233" cy="139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PROBLEMA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42383" y="-161925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CONTEXTUALIZAÇÃO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46103"/>
            <a:ext cx="16623564" cy="513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Exemplo: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“Escreva para mim uma função para ordenar uma lista de elementos”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sERIA PARA ORDENAR DO MENOR PARA O MAIOR?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ORDENAR DECRESCENTE?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ATÉ UM CASO ONDE ORDENA ALÉM DE VALOR NÚMERICO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MODELO PRECISA DE ESCLARECIMENTO DESSE INPUT.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2383" y="1071239"/>
            <a:ext cx="12003233" cy="139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PROBLEMA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166745"/>
            <a:ext cx="16489372" cy="450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CLARIFYGPT é um framework CONCEITUAL E METODOLÓGICO projetado para aprimorar a geração de código baseada em LLMs, como o GPT-4, capacitando esses modelos para identificar requisitos ambíguos e formular perguntas de Esclarecimento direcionadas.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processo ocorre em um fluxo lógico, geralmente em modo zero-shot (sem fine-tuning), e pode ser visualizado como uma série de etapas sequenciais onde o LLM atua como um agente de raciocínio e clarificação 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2383" y="-161925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CONTEXTUALIZAÇÃO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2383" y="1071239"/>
            <a:ext cx="12003233" cy="139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SOLUÇÃO ORIGINAL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51101" y="4503176"/>
            <a:ext cx="7608199" cy="4755124"/>
          </a:xfrm>
          <a:custGeom>
            <a:avLst/>
            <a:gdLst/>
            <a:ahLst/>
            <a:cxnLst/>
            <a:rect r="r" b="b" t="t" l="l"/>
            <a:pathLst>
              <a:path h="4755124" w="7608199">
                <a:moveTo>
                  <a:pt x="0" y="0"/>
                </a:moveTo>
                <a:lnTo>
                  <a:pt x="7608199" y="0"/>
                </a:lnTo>
                <a:lnTo>
                  <a:pt x="7608199" y="4755124"/>
                </a:lnTo>
                <a:lnTo>
                  <a:pt x="0" y="4755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74243" y="4817206"/>
            <a:ext cx="7369757" cy="4127064"/>
          </a:xfrm>
          <a:custGeom>
            <a:avLst/>
            <a:gdLst/>
            <a:ahLst/>
            <a:cxnLst/>
            <a:rect r="r" b="b" t="t" l="l"/>
            <a:pathLst>
              <a:path h="4127064" w="7369757">
                <a:moveTo>
                  <a:pt x="0" y="0"/>
                </a:moveTo>
                <a:lnTo>
                  <a:pt x="7369757" y="0"/>
                </a:lnTo>
                <a:lnTo>
                  <a:pt x="7369757" y="4127064"/>
                </a:lnTo>
                <a:lnTo>
                  <a:pt x="0" y="4127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9314" y="2615565"/>
            <a:ext cx="16489372" cy="255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Artigo introduzindo o framework clarifygpt, de Fangwen mu, lin shi e 5 outros coautores, foi publicado </a:t>
            </a:r>
            <a:r>
              <a:rPr lang="en-US" b="true" sz="3600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em outubro de 2023</a:t>
            </a: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, e as llms integradas a ele na pesquisa de seu efeito de performance foram o modelo original do chatgpt (gpt-3.5) e a llm considerada a mais avançada da openai na época: o gpt-4.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142383" y="-161925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CONTEXTUALIZAÇÃO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2383" y="1071239"/>
            <a:ext cx="12003233" cy="139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IDADE DA SOLUÇÃO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246729"/>
            <a:ext cx="12003233" cy="139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MOTIVAÇÃO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264535"/>
            <a:ext cx="16449464" cy="190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AVANÇO DOS MODELOS:</a:t>
            </a:r>
            <a:r>
              <a:rPr lang="en-US" b="true" sz="3600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TENDO EM VISTA A ALTA VELOCIDADE DE MELHORA DAS LLMS, E OS RESULTADOS ENCONTRADOS NA PESQUISA DO CLARIFYGPT, PODERÁ O FRAMEWORK APRESENTAR UMA MELHORA AINDA MAIOR?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85701"/>
            <a:ext cx="16982766" cy="318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19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PERGUNTAS CENTRAIS DA PESQUISA:  </a:t>
            </a:r>
          </a:p>
          <a:p>
            <a:pPr algn="just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</a:t>
            </a: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performance do ClarifyGPT é ditada pelo LLM subjacente ?</a:t>
            </a:r>
          </a:p>
          <a:p>
            <a:pPr algn="just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como novos modelos se comparam ao original no contexto de raciocínio, verificaÇão de consistência e geração de perguntas?</a:t>
            </a:r>
          </a:p>
          <a:p>
            <a:pPr algn="just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Qual modelo apresenta o melhor custo benefício ao ser utilizado pelo clarifygpt?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250193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HIPÓTESE: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740861" y="3062757"/>
            <a:ext cx="12806278" cy="575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Modelos menores e mais avançados apresentarão ganhos significativos em: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custo 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velocidade de inferência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qualidade da resposta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é preciso comparar a influência do modelo com a dos parâmetros nos na geração de resultados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233940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METODOLOGIA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76093" y="2870113"/>
            <a:ext cx="17039503" cy="575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Baseline (Ponto de Partida):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desempenho do ClarifyGPT conforme reportado ou replicado com o modelo original.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Variáveis Independentes: 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Os modelos LLM inseridos no framework: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GPT-5 Nano: Modelo focado em alta velocidade e baixa latência.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GPT-5 Mini: Modelo intermediário, buscando um equilíbrio entre performance e eficiência.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deepseek: modelo fora da família gpt-5, alternativa mais barata e open-source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233940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METODOLOGIA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792106"/>
            <a:ext cx="17011165" cy="158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Remoção de Parâmetros Depreciados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Alteração na quantidade de Tokens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93276"/>
            <a:ext cx="172593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AJUSTES EM RELAÇÃO AOS MODELOS ANTERIORES: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TRANSIÇÃO PARA AS ARQUITETURAS GPT-5 NANO E MINI IMPÔS MUDANÇAS TÉCNICAS IMPORTANTES EM RELAÇÃO AOS PARÂMETROS QUE ERAM COMUMENTE UTILIZADOS EM MODELOS DA GERAÇÃO ANTERIOR (COMO GPT-4)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233940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METODOLOGIA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451282" y="2430407"/>
            <a:ext cx="6953390" cy="5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💡 O QUE APARECEU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REASONING_EFFORT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VERBOSITY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FERRAMENTAS NATIVAS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ROTEAMENTO INTELIGENTE INTERNO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MULTIMODALIDADE OBRIGATÓRIA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CAPACIDADE DE CONTEXTO GIGANTE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CHAMADAS PARALELAS DE FERRAMENTAS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1514" y="2430407"/>
            <a:ext cx="6524327" cy="5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❌ O QUE SUMIU NO GPT-5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TEMPERATURE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TOP_P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FREQUENCY_PENALTY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PRESENCE_PENALTY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MODELOS EXCLUSIVAMENTE DE TEXTO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ACESSO EXPLÍCITO A LOGPROBS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PARTE DA PARAMETRIZAÇÃO DE SAMPLING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" id="5"/>
          <p:cNvGraphicFramePr/>
          <p:nvPr/>
        </p:nvGraphicFramePr>
        <p:xfrm>
          <a:off x="1300442" y="2054753"/>
          <a:ext cx="5657850" cy="5029200"/>
        </p:xfrm>
        <a:graphic>
          <a:graphicData uri="http://schemas.openxmlformats.org/presentationml/2006/ole">
            <p:oleObj imgW="6781800" imgH="6159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142383" y="233940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METODOLOGIA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142383" y="233940"/>
            <a:ext cx="12003233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</a:pPr>
            <a:r>
              <a:rPr lang="en-US" b="true" sz="8075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METODOLOGIA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0243" y="1701659"/>
            <a:ext cx="4476750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ANÁLISE DE CUSTO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0243" y="3438277"/>
            <a:ext cx="16186338" cy="148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PARA TODA EXECUÇÃO AS RESPOSTAS GERADAS FORAM SALVAS COM VÁRIOS METADADOS, INCLUINDO USO DE TOKENS DE SAÍDA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0243" y="5289055"/>
            <a:ext cx="15829057" cy="148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SOMOU-SE OS  TOKENS TOTAIS DE CADA UMA DAS RESPOSTAS PARA CADA UM DOS 174 ITEMS E OBTEVE-SE UMA QUANTIA TOTAL DE TOKENS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0243" y="7144525"/>
            <a:ext cx="15829057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PESQUISAMOS  O VALOR POR 1M DE TOKENS PARA CADA UM DOS MODELOS TESTADOS.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5794" y="8330027"/>
            <a:ext cx="16437956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59FF00"/>
                </a:solidFill>
                <a:latin typeface="Bebas Neue"/>
                <a:ea typeface="Bebas Neue"/>
                <a:cs typeface="Bebas Neue"/>
                <a:sym typeface="Bebas Neue"/>
              </a:rPr>
              <a:t>CUSTO DO EXPERIMENTO = QTD TOTAL DE  TOKENS X PREÇO DO TOKEN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" id="5"/>
          <p:cNvGraphicFramePr/>
          <p:nvPr/>
        </p:nvGraphicFramePr>
        <p:xfrm>
          <a:off x="2043321" y="2580013"/>
          <a:ext cx="8615362" cy="4400550"/>
        </p:xfrm>
        <a:graphic>
          <a:graphicData uri="http://schemas.openxmlformats.org/presentationml/2006/ole">
            <p:oleObj imgW="10325100" imgH="6121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142383" y="130086"/>
            <a:ext cx="12003233" cy="141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 E COMPARAÇÃO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19723" y="1184925"/>
            <a:ext cx="2342406" cy="139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5"/>
              </a:lnSpc>
              <a:spcBef>
                <a:spcPct val="0"/>
              </a:spcBef>
            </a:pPr>
            <a:r>
              <a:rPr lang="en-US" b="true" sz="8075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CUSTOS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130086"/>
            <a:ext cx="12003233" cy="141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DISCUSSÃO E CONCLUSÃO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841769"/>
            <a:ext cx="16566171" cy="672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MODELO ORIGINAL GPT-3.5-TURBO NÃO TEM PERFORMANCE TÃO INFERIOR AOS DEMAIS</a:t>
            </a:r>
          </a:p>
          <a:p>
            <a:pPr algn="just">
              <a:lnSpc>
                <a:spcPts val="5880"/>
              </a:lnSpc>
            </a:pP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MODELOS MAIS RECENTES TÊM GANHO DE PERFORMANCE NAS MÉTRICAS PASS@1 (0.16% A ~4%)</a:t>
            </a:r>
          </a:p>
          <a:p>
            <a:pPr algn="just">
              <a:lnSpc>
                <a:spcPts val="5880"/>
              </a:lnSpc>
            </a:pP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GPT5-MINI COM LOW REASONING FOI O MELHOR MODELO, MAS NÃO JUSTIFICA O PREÇO </a:t>
            </a:r>
          </a:p>
          <a:p>
            <a:pPr algn="just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NÃO CONSEGUIMOS EXECUTAR OS DEMAIS MODELOS</a:t>
            </a:r>
          </a:p>
          <a:p>
            <a:pPr algn="just">
              <a:lnSpc>
                <a:spcPts val="5880"/>
              </a:lnSpc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                     </a:t>
            </a: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DEVIDO AO ESTOURO NA QUANTIDADE DE TOKENS</a:t>
            </a:r>
          </a:p>
          <a:p>
            <a:pPr algn="just">
              <a:lnSpc>
                <a:spcPts val="5880"/>
              </a:lnSpc>
            </a:pP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POR CAUSA DISSO PASSAMOS PARA O DEEPSEEK E DESCOBRIMOS SER UMA EXCELENTE OPÇÃO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383" y="130086"/>
            <a:ext cx="12003233" cy="141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DISCUSSÃO E CONCLUSÃO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2717885" cy="0"/>
          </a:xfrm>
          <a:prstGeom prst="line">
            <a:avLst/>
          </a:prstGeom>
          <a:ln cap="flat" w="9525">
            <a:solidFill>
              <a:srgbClr val="001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086763"/>
            <a:ext cx="16566171" cy="674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DEEPSEEK TEVE PERFORMANCE SIMILAR AO GPT5-MINI CUSTANDO APROXIMADAMENTE 25% SENDO O MELHOR CUSTO BENEFÍCIO DOS MODELOS AVALIADOS</a:t>
            </a:r>
          </a:p>
          <a:p>
            <a:pPr algn="just">
              <a:lnSpc>
                <a:spcPts val="5880"/>
              </a:lnSpc>
            </a:pP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 MODO GERAL, O FRAMEWORK CONCEITUALMENTE É INTERESSANTE MAS É UMA FERRAMENTA CRUA QUE DIFICILMENTE TEM APLICABILIDADE PRÁTICA</a:t>
            </a:r>
          </a:p>
          <a:p>
            <a:pPr algn="just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FLUXO DE EXECUÇÃO COMPLICADO</a:t>
            </a:r>
          </a:p>
          <a:p>
            <a:pPr algn="just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É PRECISO ALTERAR VÁRIOS ASPECTOS DO CÓDIGO PARA PERMITIR EXECUÇÃO</a:t>
            </a:r>
          </a:p>
          <a:p>
            <a:pPr algn="just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PROCESSO LENTO E CUSTOSO</a:t>
            </a:r>
          </a:p>
          <a:p>
            <a:pPr algn="just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1F20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APLICAÇÕES SIMPLES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07060" y="3893114"/>
            <a:ext cx="6673881" cy="265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44"/>
              </a:lnSpc>
            </a:pPr>
            <a:r>
              <a:rPr lang="en-US" b="true" sz="15389">
                <a:solidFill>
                  <a:srgbClr val="4EE32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OBRIGADO!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DAG6YWUW8So</dc:identifier>
  <dcterms:modified xsi:type="dcterms:W3CDTF">2011-08-01T06:04:30Z</dcterms:modified>
  <cp:revision>1</cp:revision>
  <dc:title>Clarifygpt-5 nano</dc:title>
</cp:coreProperties>
</file>