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Bebas Neue Bold" charset="1" panose="020B0606020202050201"/>
      <p:regular r:id="rId17"/>
    </p:embeddedFont>
    <p:embeddedFont>
      <p:font typeface="Open Sans 1" charset="1" panose="00000000000000000000"/>
      <p:regular r:id="rId18"/>
    </p:embeddedFont>
    <p:embeddedFont>
      <p:font typeface="Open Sans 1 Bold" charset="1" panose="00000000000000000000"/>
      <p:regular r:id="rId19"/>
    </p:embeddedFont>
    <p:embeddedFont>
      <p:font typeface="Canva Sans" charset="1" panose="020B0503030501040103"/>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embeddings/oleObject1.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4541754"/>
            <a:ext cx="7828167" cy="4716546"/>
            <a:chOff x="0" y="0"/>
            <a:chExt cx="1159318" cy="698500"/>
          </a:xfrm>
        </p:grpSpPr>
        <p:sp>
          <p:nvSpPr>
            <p:cNvPr name="Freeform 3" id="3"/>
            <p:cNvSpPr/>
            <p:nvPr/>
          </p:nvSpPr>
          <p:spPr>
            <a:xfrm flipH="false" flipV="false" rot="0">
              <a:off x="0" y="0"/>
              <a:ext cx="1159318" cy="698500"/>
            </a:xfrm>
            <a:custGeom>
              <a:avLst/>
              <a:gdLst/>
              <a:ahLst/>
              <a:cxnLst/>
              <a:rect r="r" b="b" t="t" l="l"/>
              <a:pathLst>
                <a:path h="698500" w="1159318">
                  <a:moveTo>
                    <a:pt x="1159318" y="349250"/>
                  </a:moveTo>
                  <a:lnTo>
                    <a:pt x="956118" y="698500"/>
                  </a:lnTo>
                  <a:lnTo>
                    <a:pt x="203200" y="698500"/>
                  </a:lnTo>
                  <a:lnTo>
                    <a:pt x="0" y="349250"/>
                  </a:lnTo>
                  <a:lnTo>
                    <a:pt x="203200" y="0"/>
                  </a:lnTo>
                  <a:lnTo>
                    <a:pt x="956118" y="0"/>
                  </a:lnTo>
                  <a:lnTo>
                    <a:pt x="1159318" y="349250"/>
                  </a:lnTo>
                  <a:close/>
                </a:path>
              </a:pathLst>
            </a:custGeom>
            <a:gradFill rotWithShape="true">
              <a:gsLst>
                <a:gs pos="0">
                  <a:srgbClr val="59FF00">
                    <a:alpha val="100000"/>
                  </a:srgbClr>
                </a:gs>
                <a:gs pos="100000">
                  <a:srgbClr val="0019FF">
                    <a:alpha val="100000"/>
                  </a:srgbClr>
                </a:gs>
              </a:gsLst>
              <a:lin ang="2700000"/>
            </a:gradFill>
          </p:spPr>
        </p:sp>
        <p:sp>
          <p:nvSpPr>
            <p:cNvPr name="TextBox 4" id="4"/>
            <p:cNvSpPr txBox="true"/>
            <p:nvPr/>
          </p:nvSpPr>
          <p:spPr>
            <a:xfrm>
              <a:off x="114300" y="-38100"/>
              <a:ext cx="930718" cy="7366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052190" y="471938"/>
            <a:ext cx="4604817" cy="3957264"/>
            <a:chOff x="0" y="0"/>
            <a:chExt cx="812800" cy="698500"/>
          </a:xfrm>
        </p:grpSpPr>
        <p:sp>
          <p:nvSpPr>
            <p:cNvPr name="Freeform 6" id="6"/>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59FF00">
                    <a:alpha val="100000"/>
                  </a:srgbClr>
                </a:gs>
                <a:gs pos="100000">
                  <a:srgbClr val="0019FF">
                    <a:alpha val="100000"/>
                  </a:srgbClr>
                </a:gs>
              </a:gsLst>
              <a:lin ang="2700000"/>
            </a:gradFill>
          </p:spPr>
        </p:sp>
        <p:sp>
          <p:nvSpPr>
            <p:cNvPr name="TextBox 7" id="7"/>
            <p:cNvSpPr txBox="true"/>
            <p:nvPr/>
          </p:nvSpPr>
          <p:spPr>
            <a:xfrm>
              <a:off x="114300" y="-38100"/>
              <a:ext cx="584200" cy="7366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9477046" y="2520499"/>
            <a:ext cx="4704012" cy="4042510"/>
            <a:chOff x="0" y="0"/>
            <a:chExt cx="812800" cy="698500"/>
          </a:xfrm>
        </p:grpSpPr>
        <p:sp>
          <p:nvSpPr>
            <p:cNvPr name="Freeform 9" id="9"/>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00000">
                <a:alpha val="0"/>
              </a:srgbClr>
            </a:solidFill>
            <a:ln w="38100" cap="sq">
              <a:gradFill>
                <a:gsLst>
                  <a:gs pos="0">
                    <a:srgbClr val="59FF00">
                      <a:alpha val="100000"/>
                    </a:srgbClr>
                  </a:gs>
                  <a:gs pos="100000">
                    <a:srgbClr val="0019FF">
                      <a:alpha val="100000"/>
                    </a:srgbClr>
                  </a:gs>
                </a:gsLst>
                <a:lin ang="2700000"/>
              </a:gradFill>
              <a:prstDash val="solid"/>
              <a:miter/>
            </a:ln>
          </p:spPr>
        </p:sp>
        <p:sp>
          <p:nvSpPr>
            <p:cNvPr name="TextBox 10" id="10"/>
            <p:cNvSpPr txBox="true"/>
            <p:nvPr/>
          </p:nvSpPr>
          <p:spPr>
            <a:xfrm>
              <a:off x="114300" y="-38100"/>
              <a:ext cx="584200" cy="736600"/>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8753342" y="6722745"/>
            <a:ext cx="8505958" cy="2516505"/>
          </a:xfrm>
          <a:prstGeom prst="rect">
            <a:avLst/>
          </a:prstGeom>
        </p:spPr>
        <p:txBody>
          <a:bodyPr anchor="t" rtlCol="false" tIns="0" lIns="0" bIns="0" rIns="0">
            <a:spAutoFit/>
          </a:bodyPr>
          <a:lstStyle/>
          <a:p>
            <a:pPr algn="r">
              <a:lnSpc>
                <a:spcPts val="6719"/>
              </a:lnSpc>
              <a:spcBef>
                <a:spcPct val="0"/>
              </a:spcBef>
            </a:pPr>
            <a:r>
              <a:rPr lang="en-US" b="true" sz="4800">
                <a:solidFill>
                  <a:srgbClr val="0D3ADB"/>
                </a:solidFill>
                <a:latin typeface="Bebas Neue Bold"/>
                <a:ea typeface="Bebas Neue Bold"/>
                <a:cs typeface="Bebas Neue Bold"/>
                <a:sym typeface="Bebas Neue Bold"/>
              </a:rPr>
              <a:t>REVISITANDO O USO DO CLARIFYGPT COM O AVANÇO DE MODELOS DE IA E CONTEXTOS ATUAIS DE ESS</a:t>
            </a:r>
          </a:p>
        </p:txBody>
      </p:sp>
      <p:sp>
        <p:nvSpPr>
          <p:cNvPr name="TextBox 12" id="12"/>
          <p:cNvSpPr txBox="true"/>
          <p:nvPr/>
        </p:nvSpPr>
        <p:spPr>
          <a:xfrm rot="0">
            <a:off x="1616549" y="1811226"/>
            <a:ext cx="8219726" cy="4167789"/>
          </a:xfrm>
          <a:prstGeom prst="rect">
            <a:avLst/>
          </a:prstGeom>
        </p:spPr>
        <p:txBody>
          <a:bodyPr anchor="t" rtlCol="false" tIns="0" lIns="0" bIns="0" rIns="0">
            <a:spAutoFit/>
          </a:bodyPr>
          <a:lstStyle/>
          <a:p>
            <a:pPr algn="l">
              <a:lnSpc>
                <a:spcPts val="16660"/>
              </a:lnSpc>
            </a:pPr>
            <a:r>
              <a:rPr lang="en-US" sz="11900" b="true">
                <a:solidFill>
                  <a:srgbClr val="4EE320"/>
                </a:solidFill>
                <a:latin typeface="Bebas Neue Bold"/>
                <a:ea typeface="Bebas Neue Bold"/>
                <a:cs typeface="Bebas Neue Bold"/>
                <a:sym typeface="Bebas Neue Bold"/>
              </a:rPr>
              <a:t>CLARIFYGPT-5 </a:t>
            </a:r>
          </a:p>
          <a:p>
            <a:pPr algn="l">
              <a:lnSpc>
                <a:spcPts val="16660"/>
              </a:lnSpc>
              <a:spcBef>
                <a:spcPct val="0"/>
              </a:spcBef>
            </a:pPr>
          </a:p>
        </p:txBody>
      </p:sp>
      <p:grpSp>
        <p:nvGrpSpPr>
          <p:cNvPr name="Group 13" id="13"/>
          <p:cNvGrpSpPr/>
          <p:nvPr/>
        </p:nvGrpSpPr>
        <p:grpSpPr>
          <a:xfrm rot="0">
            <a:off x="-735457" y="7237045"/>
            <a:ext cx="2352006" cy="2021255"/>
            <a:chOff x="0" y="0"/>
            <a:chExt cx="812800" cy="698500"/>
          </a:xfrm>
        </p:grpSpPr>
        <p:sp>
          <p:nvSpPr>
            <p:cNvPr name="Freeform 14" id="14"/>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00000">
                <a:alpha val="0"/>
              </a:srgbClr>
            </a:solidFill>
            <a:ln w="38100" cap="sq">
              <a:gradFill>
                <a:gsLst>
                  <a:gs pos="0">
                    <a:srgbClr val="59FF00">
                      <a:alpha val="100000"/>
                    </a:srgbClr>
                  </a:gs>
                  <a:gs pos="100000">
                    <a:srgbClr val="0019FF">
                      <a:alpha val="100000"/>
                    </a:srgbClr>
                  </a:gs>
                </a:gsLst>
                <a:lin ang="2700000"/>
              </a:gradFill>
              <a:prstDash val="solid"/>
              <a:miter/>
            </a:ln>
          </p:spPr>
        </p:sp>
        <p:sp>
          <p:nvSpPr>
            <p:cNvPr name="TextBox 15" id="15"/>
            <p:cNvSpPr txBox="true"/>
            <p:nvPr/>
          </p:nvSpPr>
          <p:spPr>
            <a:xfrm>
              <a:off x="114300" y="-38100"/>
              <a:ext cx="584200" cy="736600"/>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16616472" y="-1010628"/>
            <a:ext cx="2352006" cy="2021255"/>
            <a:chOff x="0" y="0"/>
            <a:chExt cx="812800" cy="698500"/>
          </a:xfrm>
        </p:grpSpPr>
        <p:sp>
          <p:nvSpPr>
            <p:cNvPr name="Freeform 17" id="17"/>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00000">
                <a:alpha val="0"/>
              </a:srgbClr>
            </a:solidFill>
            <a:ln w="38100" cap="sq">
              <a:gradFill>
                <a:gsLst>
                  <a:gs pos="0">
                    <a:srgbClr val="59FF00">
                      <a:alpha val="100000"/>
                    </a:srgbClr>
                  </a:gs>
                  <a:gs pos="100000">
                    <a:srgbClr val="0019FF">
                      <a:alpha val="100000"/>
                    </a:srgbClr>
                  </a:gs>
                </a:gsLst>
                <a:lin ang="2700000"/>
              </a:gradFill>
              <a:prstDash val="solid"/>
              <a:miter/>
            </a:ln>
          </p:spPr>
        </p:sp>
        <p:sp>
          <p:nvSpPr>
            <p:cNvPr name="TextBox 18" id="18"/>
            <p:cNvSpPr txBox="true"/>
            <p:nvPr/>
          </p:nvSpPr>
          <p:spPr>
            <a:xfrm>
              <a:off x="114300" y="-38100"/>
              <a:ext cx="584200" cy="736600"/>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2819741" y="5463015"/>
            <a:ext cx="4170118" cy="2730979"/>
          </a:xfrm>
          <a:prstGeom prst="rect">
            <a:avLst/>
          </a:prstGeom>
        </p:spPr>
        <p:txBody>
          <a:bodyPr anchor="t" rtlCol="false" tIns="0" lIns="0" bIns="0" rIns="0">
            <a:spAutoFit/>
          </a:bodyPr>
          <a:lstStyle/>
          <a:p>
            <a:pPr algn="l">
              <a:lnSpc>
                <a:spcPts val="3661"/>
              </a:lnSpc>
            </a:pPr>
          </a:p>
          <a:p>
            <a:pPr algn="l">
              <a:lnSpc>
                <a:spcPts val="3661"/>
              </a:lnSpc>
            </a:pPr>
            <a:r>
              <a:rPr lang="en-US" sz="2615">
                <a:solidFill>
                  <a:srgbClr val="FFFFFF"/>
                </a:solidFill>
                <a:latin typeface="Open Sans 1"/>
                <a:ea typeface="Open Sans 1"/>
                <a:cs typeface="Open Sans 1"/>
                <a:sym typeface="Open Sans 1"/>
              </a:rPr>
              <a:t>Davi Dubeux &lt;dld2&gt;,</a:t>
            </a:r>
          </a:p>
          <a:p>
            <a:pPr algn="l">
              <a:lnSpc>
                <a:spcPts val="3661"/>
              </a:lnSpc>
            </a:pPr>
            <a:r>
              <a:rPr lang="en-US" sz="2615">
                <a:solidFill>
                  <a:srgbClr val="FFFFFF"/>
                </a:solidFill>
                <a:latin typeface="Open Sans 1"/>
                <a:ea typeface="Open Sans 1"/>
                <a:cs typeface="Open Sans 1"/>
                <a:sym typeface="Open Sans 1"/>
              </a:rPr>
              <a:t>Marcela Asfora &lt;maa5&gt;,</a:t>
            </a:r>
          </a:p>
          <a:p>
            <a:pPr algn="l">
              <a:lnSpc>
                <a:spcPts val="3661"/>
              </a:lnSpc>
            </a:pPr>
            <a:r>
              <a:rPr lang="en-US" sz="2615">
                <a:solidFill>
                  <a:srgbClr val="FFFFFF"/>
                </a:solidFill>
                <a:latin typeface="Open Sans 1"/>
                <a:ea typeface="Open Sans 1"/>
                <a:cs typeface="Open Sans 1"/>
                <a:sym typeface="Open Sans 1"/>
              </a:rPr>
              <a:t>Matheus Barney &lt;mbmg&gt;</a:t>
            </a:r>
          </a:p>
          <a:p>
            <a:pPr algn="l">
              <a:lnSpc>
                <a:spcPts val="3661"/>
              </a:lnSpc>
            </a:pPr>
            <a:r>
              <a:rPr lang="en-US" sz="2615">
                <a:solidFill>
                  <a:srgbClr val="FFFFFF"/>
                </a:solidFill>
                <a:latin typeface="Open Sans 1"/>
                <a:ea typeface="Open Sans 1"/>
                <a:cs typeface="Open Sans 1"/>
                <a:sym typeface="Open Sans 1"/>
              </a:rPr>
              <a:t>Otávio Henrique&lt;ohbf&gt;</a:t>
            </a:r>
          </a:p>
          <a:p>
            <a:pPr algn="l">
              <a:lnSpc>
                <a:spcPts val="3661"/>
              </a:lnSpc>
              <a:spcBef>
                <a:spcPct val="0"/>
              </a:spcBef>
            </a:pPr>
          </a:p>
        </p:txBody>
      </p:sp>
      <p:grpSp>
        <p:nvGrpSpPr>
          <p:cNvPr name="Group 20" id="20"/>
          <p:cNvGrpSpPr/>
          <p:nvPr/>
        </p:nvGrpSpPr>
        <p:grpSpPr>
          <a:xfrm rot="0">
            <a:off x="14801236" y="3007332"/>
            <a:ext cx="4697831" cy="4037198"/>
            <a:chOff x="0" y="0"/>
            <a:chExt cx="812800" cy="698500"/>
          </a:xfrm>
        </p:grpSpPr>
        <p:sp>
          <p:nvSpPr>
            <p:cNvPr name="Freeform 21" id="21"/>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59FF00">
                    <a:alpha val="7000"/>
                  </a:srgbClr>
                </a:gs>
                <a:gs pos="100000">
                  <a:srgbClr val="0019FF">
                    <a:alpha val="7000"/>
                  </a:srgbClr>
                </a:gs>
              </a:gsLst>
              <a:lin ang="2700000"/>
            </a:gradFill>
          </p:spPr>
        </p:sp>
        <p:sp>
          <p:nvSpPr>
            <p:cNvPr name="TextBox 22" id="22"/>
            <p:cNvSpPr txBox="true"/>
            <p:nvPr/>
          </p:nvSpPr>
          <p:spPr>
            <a:xfrm>
              <a:off x="114300" y="-38100"/>
              <a:ext cx="584200" cy="736600"/>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0">
            <a:off x="-1363893" y="-3449699"/>
            <a:ext cx="4841677" cy="4160816"/>
            <a:chOff x="0" y="0"/>
            <a:chExt cx="812800" cy="698500"/>
          </a:xfrm>
        </p:grpSpPr>
        <p:sp>
          <p:nvSpPr>
            <p:cNvPr name="Freeform 24" id="24"/>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59FF00">
                    <a:alpha val="7000"/>
                  </a:srgbClr>
                </a:gs>
                <a:gs pos="100000">
                  <a:srgbClr val="0019FF">
                    <a:alpha val="7000"/>
                  </a:srgbClr>
                </a:gs>
              </a:gsLst>
              <a:lin ang="2700000"/>
            </a:gradFill>
          </p:spPr>
        </p:sp>
        <p:sp>
          <p:nvSpPr>
            <p:cNvPr name="TextBox 25" id="25"/>
            <p:cNvSpPr txBox="true"/>
            <p:nvPr/>
          </p:nvSpPr>
          <p:spPr>
            <a:xfrm>
              <a:off x="114300" y="-38100"/>
              <a:ext cx="584200" cy="736600"/>
            </a:xfrm>
            <a:prstGeom prst="rect">
              <a:avLst/>
            </a:prstGeom>
          </p:spPr>
          <p:txBody>
            <a:bodyPr anchor="ctr" rtlCol="false" tIns="50800" lIns="50800" bIns="50800" rIns="50800"/>
            <a:lstStyle/>
            <a:p>
              <a:pPr algn="ctr">
                <a:lnSpc>
                  <a:spcPts val="2659"/>
                </a:lnSpc>
                <a:spcBef>
                  <a:spcPct val="0"/>
                </a:spcBef>
              </a:pPr>
            </a:p>
          </p:txBody>
        </p:sp>
      </p:grpSp>
      <p:sp>
        <p:nvSpPr>
          <p:cNvPr name="Freeform 26" id="26"/>
          <p:cNvSpPr/>
          <p:nvPr/>
        </p:nvSpPr>
        <p:spPr>
          <a:xfrm flipH="false" flipV="false" rot="0">
            <a:off x="1028700" y="1028700"/>
            <a:ext cx="513528" cy="513528"/>
          </a:xfrm>
          <a:custGeom>
            <a:avLst/>
            <a:gdLst/>
            <a:ahLst/>
            <a:cxnLst/>
            <a:rect r="r" b="b" t="t" l="l"/>
            <a:pathLst>
              <a:path h="513528" w="513528">
                <a:moveTo>
                  <a:pt x="0" y="0"/>
                </a:moveTo>
                <a:lnTo>
                  <a:pt x="513528" y="0"/>
                </a:lnTo>
                <a:lnTo>
                  <a:pt x="513528" y="513528"/>
                </a:lnTo>
                <a:lnTo>
                  <a:pt x="0" y="5135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7" id="27"/>
          <p:cNvGrpSpPr/>
          <p:nvPr/>
        </p:nvGrpSpPr>
        <p:grpSpPr>
          <a:xfrm rot="0">
            <a:off x="16655297" y="9239250"/>
            <a:ext cx="2356378" cy="2025012"/>
            <a:chOff x="0" y="0"/>
            <a:chExt cx="812800" cy="698500"/>
          </a:xfrm>
        </p:grpSpPr>
        <p:sp>
          <p:nvSpPr>
            <p:cNvPr name="Freeform 28" id="28"/>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59FF00">
                    <a:alpha val="100000"/>
                  </a:srgbClr>
                </a:gs>
                <a:gs pos="100000">
                  <a:srgbClr val="0019FF">
                    <a:alpha val="100000"/>
                  </a:srgbClr>
                </a:gs>
              </a:gsLst>
              <a:lin ang="2700000"/>
            </a:gradFill>
          </p:spPr>
        </p:sp>
        <p:sp>
          <p:nvSpPr>
            <p:cNvPr name="TextBox 29" id="29"/>
            <p:cNvSpPr txBox="true"/>
            <p:nvPr/>
          </p:nvSpPr>
          <p:spPr>
            <a:xfrm>
              <a:off x="114300" y="-38100"/>
              <a:ext cx="584200" cy="736600"/>
            </a:xfrm>
            <a:prstGeom prst="rect">
              <a:avLst/>
            </a:prstGeom>
          </p:spPr>
          <p:txBody>
            <a:bodyPr anchor="ctr" rtlCol="false" tIns="50800" lIns="50800" bIns="50800" rIns="50800"/>
            <a:lstStyle/>
            <a:p>
              <a:pPr algn="ctr">
                <a:lnSpc>
                  <a:spcPts val="2659"/>
                </a:lnSpc>
                <a:spcBef>
                  <a:spcPct val="0"/>
                </a:spcBef>
              </a:pPr>
            </a:p>
          </p:txBody>
        </p:sp>
      </p:grpSp>
      <p:sp>
        <p:nvSpPr>
          <p:cNvPr name="TextBox 30" id="30"/>
          <p:cNvSpPr txBox="true"/>
          <p:nvPr/>
        </p:nvSpPr>
        <p:spPr>
          <a:xfrm rot="0">
            <a:off x="17335503" y="9593196"/>
            <a:ext cx="717770" cy="344371"/>
          </a:xfrm>
          <a:prstGeom prst="rect">
            <a:avLst/>
          </a:prstGeom>
        </p:spPr>
        <p:txBody>
          <a:bodyPr anchor="t" rtlCol="false" tIns="0" lIns="0" bIns="0" rIns="0">
            <a:spAutoFit/>
          </a:bodyPr>
          <a:lstStyle/>
          <a:p>
            <a:pPr algn="ctr">
              <a:lnSpc>
                <a:spcPts val="2840"/>
              </a:lnSpc>
              <a:spcBef>
                <a:spcPct val="0"/>
              </a:spcBef>
            </a:pPr>
            <a:r>
              <a:rPr lang="en-US" b="true" sz="2029">
                <a:solidFill>
                  <a:srgbClr val="FFFFFF"/>
                </a:solidFill>
                <a:latin typeface="Open Sans 1 Bold"/>
                <a:ea typeface="Open Sans 1 Bold"/>
                <a:cs typeface="Open Sans 1 Bold"/>
                <a:sym typeface="Open Sans 1 Bold"/>
              </a:rPr>
              <a:t>01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142383" y="669091"/>
            <a:ext cx="12003233" cy="1395089"/>
          </a:xfrm>
          <a:prstGeom prst="rect">
            <a:avLst/>
          </a:prstGeom>
        </p:spPr>
        <p:txBody>
          <a:bodyPr anchor="t" rtlCol="false" tIns="0" lIns="0" bIns="0" rIns="0">
            <a:spAutoFit/>
          </a:bodyPr>
          <a:lstStyle/>
          <a:p>
            <a:pPr algn="ctr">
              <a:lnSpc>
                <a:spcPts val="11305"/>
              </a:lnSpc>
            </a:pPr>
            <a:r>
              <a:rPr lang="en-US" b="true" sz="8075">
                <a:solidFill>
                  <a:srgbClr val="4EE320"/>
                </a:solidFill>
                <a:latin typeface="Bebas Neue Bold"/>
                <a:ea typeface="Bebas Neue Bold"/>
                <a:cs typeface="Bebas Neue Bold"/>
                <a:sym typeface="Bebas Neue Bold"/>
              </a:rPr>
              <a:t>CONTEXTUALIZAÇÃO</a:t>
            </a:r>
          </a:p>
        </p:txBody>
      </p:sp>
      <p:sp>
        <p:nvSpPr>
          <p:cNvPr name="Freeform 4" id="4"/>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4541415" y="9464180"/>
            <a:ext cx="12717885" cy="0"/>
          </a:xfrm>
          <a:prstGeom prst="line">
            <a:avLst/>
          </a:prstGeom>
          <a:ln cap="flat" w="9525">
            <a:solidFill>
              <a:srgbClr val="0019FF"/>
            </a:solidFill>
            <a:prstDash val="solid"/>
            <a:headEnd type="none" len="sm" w="sm"/>
            <a:tailEnd type="none" len="sm" w="sm"/>
          </a:ln>
        </p:spPr>
      </p:sp>
      <p:sp>
        <p:nvSpPr>
          <p:cNvPr name="TextBox 6" id="6"/>
          <p:cNvSpPr txBox="true"/>
          <p:nvPr/>
        </p:nvSpPr>
        <p:spPr>
          <a:xfrm rot="0">
            <a:off x="1028700" y="2546103"/>
            <a:ext cx="16623564" cy="5718810"/>
          </a:xfrm>
          <a:prstGeom prst="rect">
            <a:avLst/>
          </a:prstGeom>
        </p:spPr>
        <p:txBody>
          <a:bodyPr anchor="t" rtlCol="false" tIns="0" lIns="0" bIns="0" rIns="0">
            <a:spAutoFit/>
          </a:bodyPr>
          <a:lstStyle/>
          <a:p>
            <a:pPr algn="l">
              <a:lnSpc>
                <a:spcPts val="5040"/>
              </a:lnSpc>
              <a:spcBef>
                <a:spcPct val="0"/>
              </a:spcBef>
            </a:pPr>
            <a:r>
              <a:rPr lang="en-US" b="true" sz="3600" u="sng">
                <a:solidFill>
                  <a:srgbClr val="0019FF"/>
                </a:solidFill>
                <a:latin typeface="Bebas Neue Bold"/>
                <a:ea typeface="Bebas Neue Bold"/>
                <a:cs typeface="Bebas Neue Bold"/>
                <a:sym typeface="Bebas Neue Bold"/>
              </a:rPr>
              <a:t>PONTO CHAVE: </a:t>
            </a:r>
          </a:p>
          <a:p>
            <a:pPr algn="l">
              <a:lnSpc>
                <a:spcPts val="5040"/>
              </a:lnSpc>
              <a:spcBef>
                <a:spcPct val="0"/>
              </a:spcBef>
            </a:pPr>
          </a:p>
          <a:p>
            <a:pPr algn="just">
              <a:lnSpc>
                <a:spcPts val="5040"/>
              </a:lnSpc>
              <a:spcBef>
                <a:spcPct val="0"/>
              </a:spcBef>
            </a:pPr>
            <a:r>
              <a:rPr lang="en-US" b="true" sz="3600">
                <a:solidFill>
                  <a:srgbClr val="1F2020"/>
                </a:solidFill>
                <a:latin typeface="Bebas Neue Bold"/>
                <a:ea typeface="Bebas Neue Bold"/>
                <a:cs typeface="Bebas Neue Bold"/>
                <a:sym typeface="Bebas Neue Bold"/>
              </a:rPr>
              <a:t>Geração de Código por LLMs (como GPT-4) é poderosa, mas vulnerável à ambiguidade e insuficiência dos requisitos em linguagem natural.</a:t>
            </a:r>
          </a:p>
          <a:p>
            <a:pPr algn="just">
              <a:lnSpc>
                <a:spcPts val="5040"/>
              </a:lnSpc>
              <a:spcBef>
                <a:spcPct val="0"/>
              </a:spcBef>
            </a:pPr>
          </a:p>
          <a:p>
            <a:pPr algn="l">
              <a:lnSpc>
                <a:spcPts val="5040"/>
              </a:lnSpc>
              <a:spcBef>
                <a:spcPct val="0"/>
              </a:spcBef>
            </a:pPr>
            <a:r>
              <a:rPr lang="en-US" b="true" sz="3600" u="sng">
                <a:solidFill>
                  <a:srgbClr val="0019FF"/>
                </a:solidFill>
                <a:latin typeface="Bebas Neue Bold"/>
                <a:ea typeface="Bebas Neue Bold"/>
                <a:cs typeface="Bebas Neue Bold"/>
                <a:sym typeface="Bebas Neue Bold"/>
              </a:rPr>
              <a:t>IMPACTO:</a:t>
            </a:r>
          </a:p>
          <a:p>
            <a:pPr algn="l">
              <a:lnSpc>
                <a:spcPts val="5040"/>
              </a:lnSpc>
              <a:spcBef>
                <a:spcPct val="0"/>
              </a:spcBef>
            </a:pPr>
          </a:p>
          <a:p>
            <a:pPr algn="just">
              <a:lnSpc>
                <a:spcPts val="5040"/>
              </a:lnSpc>
              <a:spcBef>
                <a:spcPct val="0"/>
              </a:spcBef>
            </a:pPr>
            <a:r>
              <a:rPr lang="en-US" b="true" sz="3600">
                <a:solidFill>
                  <a:srgbClr val="1F2020"/>
                </a:solidFill>
                <a:latin typeface="Bebas Neue Bold"/>
                <a:ea typeface="Bebas Neue Bold"/>
                <a:cs typeface="Bebas Neue Bold"/>
                <a:sym typeface="Bebas Neue Bold"/>
              </a:rPr>
              <a:t>Requisitos ambíguos levam à geração de código que não reflete a intenção original do usuário, exigindo debugging manual e retrabalho.</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142383" y="669091"/>
            <a:ext cx="12003233" cy="1395089"/>
          </a:xfrm>
          <a:prstGeom prst="rect">
            <a:avLst/>
          </a:prstGeom>
        </p:spPr>
        <p:txBody>
          <a:bodyPr anchor="t" rtlCol="false" tIns="0" lIns="0" bIns="0" rIns="0">
            <a:spAutoFit/>
          </a:bodyPr>
          <a:lstStyle/>
          <a:p>
            <a:pPr algn="ctr">
              <a:lnSpc>
                <a:spcPts val="11305"/>
              </a:lnSpc>
            </a:pPr>
            <a:r>
              <a:rPr lang="en-US" b="true" sz="8075">
                <a:solidFill>
                  <a:srgbClr val="4EE320"/>
                </a:solidFill>
                <a:latin typeface="Bebas Neue Bold"/>
                <a:ea typeface="Bebas Neue Bold"/>
                <a:cs typeface="Bebas Neue Bold"/>
                <a:sym typeface="Bebas Neue Bold"/>
              </a:rPr>
              <a:t>CONTEXTUALIZAÇÃO</a:t>
            </a:r>
          </a:p>
        </p:txBody>
      </p:sp>
      <p:sp>
        <p:nvSpPr>
          <p:cNvPr name="Freeform 4" id="4"/>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4541415" y="9464180"/>
            <a:ext cx="12717885" cy="0"/>
          </a:xfrm>
          <a:prstGeom prst="line">
            <a:avLst/>
          </a:prstGeom>
          <a:ln cap="flat" w="9525">
            <a:solidFill>
              <a:srgbClr val="0019FF"/>
            </a:solidFill>
            <a:prstDash val="solid"/>
            <a:headEnd type="none" len="sm" w="sm"/>
            <a:tailEnd type="none" len="sm" w="sm"/>
          </a:ln>
        </p:spPr>
      </p:sp>
      <p:sp>
        <p:nvSpPr>
          <p:cNvPr name="TextBox 6" id="6"/>
          <p:cNvSpPr txBox="true"/>
          <p:nvPr/>
        </p:nvSpPr>
        <p:spPr>
          <a:xfrm rot="0">
            <a:off x="1028700" y="3166745"/>
            <a:ext cx="16489372" cy="1889760"/>
          </a:xfrm>
          <a:prstGeom prst="rect">
            <a:avLst/>
          </a:prstGeom>
        </p:spPr>
        <p:txBody>
          <a:bodyPr anchor="t" rtlCol="false" tIns="0" lIns="0" bIns="0" rIns="0">
            <a:spAutoFit/>
          </a:bodyPr>
          <a:lstStyle/>
          <a:p>
            <a:pPr algn="just">
              <a:lnSpc>
                <a:spcPts val="5040"/>
              </a:lnSpc>
              <a:spcBef>
                <a:spcPct val="0"/>
              </a:spcBef>
            </a:pPr>
            <a:r>
              <a:rPr lang="en-US" b="true" sz="3600">
                <a:solidFill>
                  <a:srgbClr val="1F2020"/>
                </a:solidFill>
                <a:latin typeface="Bebas Neue Bold"/>
                <a:ea typeface="Bebas Neue Bold"/>
                <a:cs typeface="Bebas Neue Bold"/>
                <a:sym typeface="Bebas Neue Bold"/>
              </a:rPr>
              <a:t>o CLARIFYGPT é um framework projetado para aprimorar a geração de código baseada em LLMs, como o GPT-4, capacitando esses modelos para identificar requisitos ambíguos e formular perguntas de Esclarecimento direcionadas</a:t>
            </a:r>
          </a:p>
        </p:txBody>
      </p:sp>
      <p:sp>
        <p:nvSpPr>
          <p:cNvPr name="TextBox 7" id="7"/>
          <p:cNvSpPr txBox="true"/>
          <p:nvPr/>
        </p:nvSpPr>
        <p:spPr>
          <a:xfrm rot="0">
            <a:off x="1028700" y="5841149"/>
            <a:ext cx="16489372" cy="2527935"/>
          </a:xfrm>
          <a:prstGeom prst="rect">
            <a:avLst/>
          </a:prstGeom>
        </p:spPr>
        <p:txBody>
          <a:bodyPr anchor="t" rtlCol="false" tIns="0" lIns="0" bIns="0" rIns="0">
            <a:spAutoFit/>
          </a:bodyPr>
          <a:lstStyle/>
          <a:p>
            <a:pPr algn="just">
              <a:lnSpc>
                <a:spcPts val="5040"/>
              </a:lnSpc>
              <a:spcBef>
                <a:spcPct val="0"/>
              </a:spcBef>
            </a:pPr>
            <a:r>
              <a:rPr lang="en-US" b="true" sz="3600">
                <a:solidFill>
                  <a:srgbClr val="1F2020"/>
                </a:solidFill>
                <a:latin typeface="Bebas Neue Bold"/>
                <a:ea typeface="Bebas Neue Bold"/>
                <a:cs typeface="Bebas Neue Bold"/>
                <a:sym typeface="Bebas Neue Bold"/>
              </a:rPr>
              <a:t>o Artigo original do framework clarifygpt foi publicado </a:t>
            </a:r>
            <a:r>
              <a:rPr lang="en-US" b="true" sz="3600">
                <a:solidFill>
                  <a:srgbClr val="4EE320"/>
                </a:solidFill>
                <a:latin typeface="Bebas Neue Bold"/>
                <a:ea typeface="Bebas Neue Bold"/>
                <a:cs typeface="Bebas Neue Bold"/>
                <a:sym typeface="Bebas Neue Bold"/>
              </a:rPr>
              <a:t>em outubro de 2023</a:t>
            </a:r>
            <a:r>
              <a:rPr lang="en-US" b="true" sz="3600">
                <a:solidFill>
                  <a:srgbClr val="1F2020"/>
                </a:solidFill>
                <a:latin typeface="Bebas Neue Bold"/>
                <a:ea typeface="Bebas Neue Bold"/>
                <a:cs typeface="Bebas Neue Bold"/>
                <a:sym typeface="Bebas Neue Bold"/>
              </a:rPr>
              <a:t>, e as llms integradas a ele na pesquisa de seu efeito de performance foram o modelo original do chatgpt (gpt-3.5) e a llm considerada a mais avançada da openai na época: o gpt-4.</a:t>
            </a:r>
          </a:p>
          <a:p>
            <a:pPr algn="just">
              <a:lnSpc>
                <a:spcPts val="5040"/>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142383" y="246729"/>
            <a:ext cx="12003233" cy="1395089"/>
          </a:xfrm>
          <a:prstGeom prst="rect">
            <a:avLst/>
          </a:prstGeom>
        </p:spPr>
        <p:txBody>
          <a:bodyPr anchor="t" rtlCol="false" tIns="0" lIns="0" bIns="0" rIns="0">
            <a:spAutoFit/>
          </a:bodyPr>
          <a:lstStyle/>
          <a:p>
            <a:pPr algn="ctr">
              <a:lnSpc>
                <a:spcPts val="11305"/>
              </a:lnSpc>
            </a:pPr>
            <a:r>
              <a:rPr lang="en-US" b="true" sz="8075">
                <a:solidFill>
                  <a:srgbClr val="4EE320"/>
                </a:solidFill>
                <a:latin typeface="Bebas Neue Bold"/>
                <a:ea typeface="Bebas Neue Bold"/>
                <a:cs typeface="Bebas Neue Bold"/>
                <a:sym typeface="Bebas Neue Bold"/>
              </a:rPr>
              <a:t>INTRODUÇÃO</a:t>
            </a:r>
          </a:p>
        </p:txBody>
      </p:sp>
      <p:sp>
        <p:nvSpPr>
          <p:cNvPr name="Freeform 4" id="4"/>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4541415" y="9464180"/>
            <a:ext cx="12717885" cy="0"/>
          </a:xfrm>
          <a:prstGeom prst="line">
            <a:avLst/>
          </a:prstGeom>
          <a:ln cap="flat" w="9525">
            <a:solidFill>
              <a:srgbClr val="0019FF"/>
            </a:solidFill>
            <a:prstDash val="solid"/>
            <a:headEnd type="none" len="sm" w="sm"/>
            <a:tailEnd type="none" len="sm" w="sm"/>
          </a:ln>
        </p:spPr>
      </p:sp>
      <p:sp>
        <p:nvSpPr>
          <p:cNvPr name="TextBox 6" id="6"/>
          <p:cNvSpPr txBox="true"/>
          <p:nvPr/>
        </p:nvSpPr>
        <p:spPr>
          <a:xfrm rot="0">
            <a:off x="1028700" y="2264535"/>
            <a:ext cx="16449464" cy="2527935"/>
          </a:xfrm>
          <a:prstGeom prst="rect">
            <a:avLst/>
          </a:prstGeom>
        </p:spPr>
        <p:txBody>
          <a:bodyPr anchor="t" rtlCol="false" tIns="0" lIns="0" bIns="0" rIns="0">
            <a:spAutoFit/>
          </a:bodyPr>
          <a:lstStyle/>
          <a:p>
            <a:pPr algn="l">
              <a:lnSpc>
                <a:spcPts val="5040"/>
              </a:lnSpc>
              <a:spcBef>
                <a:spcPct val="0"/>
              </a:spcBef>
            </a:pPr>
            <a:r>
              <a:rPr lang="en-US" b="true" sz="3600" u="sng">
                <a:solidFill>
                  <a:srgbClr val="0019FF"/>
                </a:solidFill>
                <a:latin typeface="Bebas Neue Bold"/>
                <a:ea typeface="Bebas Neue Bold"/>
                <a:cs typeface="Bebas Neue Bold"/>
                <a:sym typeface="Bebas Neue Bold"/>
              </a:rPr>
              <a:t>AVANÇO DOS MODELOS:</a:t>
            </a:r>
            <a:r>
              <a:rPr lang="en-US" b="true" sz="3600">
                <a:solidFill>
                  <a:srgbClr val="0019FF"/>
                </a:solidFill>
                <a:latin typeface="Bebas Neue Bold"/>
                <a:ea typeface="Bebas Neue Bold"/>
                <a:cs typeface="Bebas Neue Bold"/>
                <a:sym typeface="Bebas Neue Bold"/>
              </a:rPr>
              <a:t> </a:t>
            </a:r>
          </a:p>
          <a:p>
            <a:pPr algn="l">
              <a:lnSpc>
                <a:spcPts val="5040"/>
              </a:lnSpc>
              <a:spcBef>
                <a:spcPct val="0"/>
              </a:spcBef>
            </a:pPr>
          </a:p>
          <a:p>
            <a:pPr algn="l">
              <a:lnSpc>
                <a:spcPts val="5040"/>
              </a:lnSpc>
              <a:spcBef>
                <a:spcPct val="0"/>
              </a:spcBef>
            </a:pPr>
            <a:r>
              <a:rPr lang="en-US" b="true" sz="3600">
                <a:solidFill>
                  <a:srgbClr val="1F2020"/>
                </a:solidFill>
                <a:latin typeface="Bebas Neue Bold"/>
                <a:ea typeface="Bebas Neue Bold"/>
                <a:cs typeface="Bebas Neue Bold"/>
                <a:sym typeface="Bebas Neue Bold"/>
              </a:rPr>
              <a:t>Modelos de Linguagem (LLMs) estão em constante evolução, com novas arquiteturas (como o GPT-5) focando em eficiência, velocidade e especialização de tarefas.</a:t>
            </a:r>
          </a:p>
        </p:txBody>
      </p:sp>
      <p:sp>
        <p:nvSpPr>
          <p:cNvPr name="TextBox 7" id="7"/>
          <p:cNvSpPr txBox="true"/>
          <p:nvPr/>
        </p:nvSpPr>
        <p:spPr>
          <a:xfrm rot="0">
            <a:off x="1028700" y="5411595"/>
            <a:ext cx="16982766" cy="3166110"/>
          </a:xfrm>
          <a:prstGeom prst="rect">
            <a:avLst/>
          </a:prstGeom>
        </p:spPr>
        <p:txBody>
          <a:bodyPr anchor="t" rtlCol="false" tIns="0" lIns="0" bIns="0" rIns="0">
            <a:spAutoFit/>
          </a:bodyPr>
          <a:lstStyle/>
          <a:p>
            <a:pPr algn="just">
              <a:lnSpc>
                <a:spcPts val="5040"/>
              </a:lnSpc>
              <a:spcBef>
                <a:spcPct val="0"/>
              </a:spcBef>
            </a:pPr>
            <a:r>
              <a:rPr lang="en-US" b="true" sz="3600" u="sng">
                <a:solidFill>
                  <a:srgbClr val="0019FF"/>
                </a:solidFill>
                <a:latin typeface="Bebas Neue Bold"/>
                <a:ea typeface="Bebas Neue Bold"/>
                <a:cs typeface="Bebas Neue Bold"/>
                <a:sym typeface="Bebas Neue Bold"/>
              </a:rPr>
              <a:t>PERGUNTAS CENTRAIS DA PESQUISA:  </a:t>
            </a:r>
            <a:r>
              <a:rPr lang="en-US" b="true" sz="3600">
                <a:solidFill>
                  <a:srgbClr val="1F2020"/>
                </a:solidFill>
                <a:latin typeface="Bebas Neue Bold"/>
                <a:ea typeface="Bebas Neue Bold"/>
                <a:cs typeface="Bebas Neue Bold"/>
                <a:sym typeface="Bebas Neue Bold"/>
              </a:rPr>
              <a:t> A performance do ClarifyGPT é ditada pelo LLM subjacente ?</a:t>
            </a:r>
          </a:p>
          <a:p>
            <a:pPr algn="just">
              <a:lnSpc>
                <a:spcPts val="5040"/>
              </a:lnSpc>
              <a:spcBef>
                <a:spcPct val="0"/>
              </a:spcBef>
            </a:pPr>
            <a:r>
              <a:rPr lang="en-US" b="true" sz="3600">
                <a:solidFill>
                  <a:srgbClr val="1F2020"/>
                </a:solidFill>
                <a:latin typeface="Bebas Neue Bold"/>
                <a:ea typeface="Bebas Neue Bold"/>
                <a:cs typeface="Bebas Neue Bold"/>
                <a:sym typeface="Bebas Neue Bold"/>
              </a:rPr>
              <a:t> </a:t>
            </a:r>
          </a:p>
          <a:p>
            <a:pPr algn="just">
              <a:lnSpc>
                <a:spcPts val="5040"/>
              </a:lnSpc>
              <a:spcBef>
                <a:spcPct val="0"/>
              </a:spcBef>
            </a:pPr>
            <a:r>
              <a:rPr lang="en-US" b="true" sz="3600">
                <a:solidFill>
                  <a:srgbClr val="1F2020"/>
                </a:solidFill>
                <a:latin typeface="Bebas Neue Bold"/>
                <a:ea typeface="Bebas Neue Bold"/>
                <a:cs typeface="Bebas Neue Bold"/>
                <a:sym typeface="Bebas Neue Bold"/>
              </a:rPr>
              <a:t>como as novas versões — potencialmente mais leves ou mais otimizadas — GPT-5 Nano e GPT-5 Mini — se comparam ao modelo original no contexto das tarefas de raciocínio, verificação de consistência e geração de perguntas?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277356" y="246729"/>
            <a:ext cx="12003233" cy="1395089"/>
          </a:xfrm>
          <a:prstGeom prst="rect">
            <a:avLst/>
          </a:prstGeom>
        </p:spPr>
        <p:txBody>
          <a:bodyPr anchor="t" rtlCol="false" tIns="0" lIns="0" bIns="0" rIns="0">
            <a:spAutoFit/>
          </a:bodyPr>
          <a:lstStyle/>
          <a:p>
            <a:pPr algn="ctr">
              <a:lnSpc>
                <a:spcPts val="11305"/>
              </a:lnSpc>
            </a:pPr>
            <a:r>
              <a:rPr lang="en-US" b="true" sz="8075">
                <a:solidFill>
                  <a:srgbClr val="4EE320"/>
                </a:solidFill>
                <a:latin typeface="Bebas Neue Bold"/>
                <a:ea typeface="Bebas Neue Bold"/>
                <a:cs typeface="Bebas Neue Bold"/>
                <a:sym typeface="Bebas Neue Bold"/>
              </a:rPr>
              <a:t>HIPÓTESE:</a:t>
            </a:r>
          </a:p>
        </p:txBody>
      </p:sp>
      <p:sp>
        <p:nvSpPr>
          <p:cNvPr name="Freeform 4" id="4"/>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4541415" y="9464180"/>
            <a:ext cx="12717885" cy="0"/>
          </a:xfrm>
          <a:prstGeom prst="line">
            <a:avLst/>
          </a:prstGeom>
          <a:ln cap="flat" w="9525">
            <a:solidFill>
              <a:srgbClr val="0019FF"/>
            </a:solidFill>
            <a:prstDash val="solid"/>
            <a:headEnd type="none" len="sm" w="sm"/>
            <a:tailEnd type="none" len="sm" w="sm"/>
          </a:ln>
        </p:spPr>
      </p:sp>
      <p:sp>
        <p:nvSpPr>
          <p:cNvPr name="TextBox 6" id="6"/>
          <p:cNvSpPr txBox="true"/>
          <p:nvPr/>
        </p:nvSpPr>
        <p:spPr>
          <a:xfrm rot="0">
            <a:off x="944575" y="2388431"/>
            <a:ext cx="16668795" cy="5718810"/>
          </a:xfrm>
          <a:prstGeom prst="rect">
            <a:avLst/>
          </a:prstGeom>
        </p:spPr>
        <p:txBody>
          <a:bodyPr anchor="t" rtlCol="false" tIns="0" lIns="0" bIns="0" rIns="0">
            <a:spAutoFit/>
          </a:bodyPr>
          <a:lstStyle/>
          <a:p>
            <a:pPr algn="just">
              <a:lnSpc>
                <a:spcPts val="5040"/>
              </a:lnSpc>
              <a:spcBef>
                <a:spcPct val="0"/>
              </a:spcBef>
            </a:pPr>
            <a:r>
              <a:rPr lang="en-US" b="true" sz="3600">
                <a:solidFill>
                  <a:srgbClr val="1F2020"/>
                </a:solidFill>
                <a:latin typeface="Bebas Neue Bold"/>
                <a:ea typeface="Bebas Neue Bold"/>
                <a:cs typeface="Bebas Neue Bold"/>
                <a:sym typeface="Bebas Neue Bold"/>
              </a:rPr>
              <a:t>Modelos menores e mais avançados podem oferecer ganhos significativos em:</a:t>
            </a:r>
          </a:p>
          <a:p>
            <a:pPr algn="just">
              <a:lnSpc>
                <a:spcPts val="5040"/>
              </a:lnSpc>
              <a:spcBef>
                <a:spcPct val="0"/>
              </a:spcBef>
            </a:pPr>
          </a:p>
          <a:p>
            <a:pPr algn="just" marL="777240" indent="-388620" lvl="1">
              <a:lnSpc>
                <a:spcPts val="5040"/>
              </a:lnSpc>
              <a:buFont typeface="Arial"/>
              <a:buChar char="•"/>
            </a:pPr>
            <a:r>
              <a:rPr lang="en-US" b="true" sz="3600">
                <a:solidFill>
                  <a:srgbClr val="1F2020"/>
                </a:solidFill>
                <a:latin typeface="Bebas Neue Bold"/>
                <a:ea typeface="Bebas Neue Bold"/>
                <a:cs typeface="Bebas Neue Bold"/>
                <a:sym typeface="Bebas Neue Bold"/>
              </a:rPr>
              <a:t>custo </a:t>
            </a:r>
          </a:p>
          <a:p>
            <a:pPr algn="just" marL="777240" indent="-388620" lvl="1">
              <a:lnSpc>
                <a:spcPts val="5040"/>
              </a:lnSpc>
              <a:buFont typeface="Arial"/>
              <a:buChar char="•"/>
            </a:pPr>
            <a:r>
              <a:rPr lang="en-US" b="true" sz="3600">
                <a:solidFill>
                  <a:srgbClr val="1F2020"/>
                </a:solidFill>
                <a:latin typeface="Bebas Neue Bold"/>
                <a:ea typeface="Bebas Neue Bold"/>
                <a:cs typeface="Bebas Neue Bold"/>
                <a:sym typeface="Bebas Neue Bold"/>
              </a:rPr>
              <a:t>velocidade de inferência</a:t>
            </a:r>
          </a:p>
          <a:p>
            <a:pPr algn="just" marL="777240" indent="-388620" lvl="1">
              <a:lnSpc>
                <a:spcPts val="5040"/>
              </a:lnSpc>
              <a:buFont typeface="Arial"/>
              <a:buChar char="•"/>
            </a:pPr>
            <a:r>
              <a:rPr lang="en-US" b="true" sz="3600">
                <a:solidFill>
                  <a:srgbClr val="1F2020"/>
                </a:solidFill>
                <a:latin typeface="Bebas Neue Bold"/>
                <a:ea typeface="Bebas Neue Bold"/>
                <a:cs typeface="Bebas Neue Bold"/>
                <a:sym typeface="Bebas Neue Bold"/>
              </a:rPr>
              <a:t>qualidade da resposta</a:t>
            </a:r>
          </a:p>
          <a:p>
            <a:pPr algn="just">
              <a:lnSpc>
                <a:spcPts val="5040"/>
              </a:lnSpc>
            </a:pPr>
          </a:p>
          <a:p>
            <a:pPr algn="just">
              <a:lnSpc>
                <a:spcPts val="5040"/>
              </a:lnSpc>
              <a:spcBef>
                <a:spcPct val="0"/>
              </a:spcBef>
            </a:pPr>
            <a:r>
              <a:rPr lang="en-US" b="true" sz="3600">
                <a:solidFill>
                  <a:srgbClr val="1F2020"/>
                </a:solidFill>
                <a:latin typeface="Bebas Neue Bold"/>
                <a:ea typeface="Bebas Neue Bold"/>
                <a:cs typeface="Bebas Neue Bold"/>
                <a:sym typeface="Bebas Neue Bold"/>
              </a:rPr>
              <a:t>M</a:t>
            </a:r>
            <a:r>
              <a:rPr lang="en-US" b="true" sz="3600">
                <a:solidFill>
                  <a:srgbClr val="1F2020"/>
                </a:solidFill>
                <a:latin typeface="Bebas Neue Bold"/>
                <a:ea typeface="Bebas Neue Bold"/>
                <a:cs typeface="Bebas Neue Bold"/>
                <a:sym typeface="Bebas Neue Bold"/>
              </a:rPr>
              <a:t>as é crucial verificar se essa hipotése se sustenta ou se a otimização dos parâmetros compromete a qualidade do raciocínio e a precisão do esclarecimento.</a:t>
            </a:r>
          </a:p>
          <a:p>
            <a:pPr algn="just">
              <a:lnSpc>
                <a:spcPts val="5040"/>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142383" y="233940"/>
            <a:ext cx="12003233" cy="1395089"/>
          </a:xfrm>
          <a:prstGeom prst="rect">
            <a:avLst/>
          </a:prstGeom>
        </p:spPr>
        <p:txBody>
          <a:bodyPr anchor="t" rtlCol="false" tIns="0" lIns="0" bIns="0" rIns="0">
            <a:spAutoFit/>
          </a:bodyPr>
          <a:lstStyle/>
          <a:p>
            <a:pPr algn="ctr">
              <a:lnSpc>
                <a:spcPts val="11305"/>
              </a:lnSpc>
            </a:pPr>
            <a:r>
              <a:rPr lang="en-US" b="true" sz="8075">
                <a:solidFill>
                  <a:srgbClr val="4EE320"/>
                </a:solidFill>
                <a:latin typeface="Bebas Neue Bold"/>
                <a:ea typeface="Bebas Neue Bold"/>
                <a:cs typeface="Bebas Neue Bold"/>
                <a:sym typeface="Bebas Neue Bold"/>
              </a:rPr>
              <a:t>METODOLOGIA</a:t>
            </a:r>
          </a:p>
        </p:txBody>
      </p:sp>
      <p:sp>
        <p:nvSpPr>
          <p:cNvPr name="Freeform 4" id="4"/>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4541415" y="9464180"/>
            <a:ext cx="12717885" cy="0"/>
          </a:xfrm>
          <a:prstGeom prst="line">
            <a:avLst/>
          </a:prstGeom>
          <a:ln cap="flat" w="9525">
            <a:solidFill>
              <a:srgbClr val="0019FF"/>
            </a:solidFill>
            <a:prstDash val="solid"/>
            <a:headEnd type="none" len="sm" w="sm"/>
            <a:tailEnd type="none" len="sm" w="sm"/>
          </a:ln>
        </p:spPr>
      </p:sp>
      <p:sp>
        <p:nvSpPr>
          <p:cNvPr name="TextBox 6" id="6"/>
          <p:cNvSpPr txBox="true"/>
          <p:nvPr/>
        </p:nvSpPr>
        <p:spPr>
          <a:xfrm rot="0">
            <a:off x="776093" y="2870113"/>
            <a:ext cx="17039503" cy="5080635"/>
          </a:xfrm>
          <a:prstGeom prst="rect">
            <a:avLst/>
          </a:prstGeom>
        </p:spPr>
        <p:txBody>
          <a:bodyPr anchor="t" rtlCol="false" tIns="0" lIns="0" bIns="0" rIns="0">
            <a:spAutoFit/>
          </a:bodyPr>
          <a:lstStyle/>
          <a:p>
            <a:pPr algn="just">
              <a:lnSpc>
                <a:spcPts val="5040"/>
              </a:lnSpc>
              <a:spcBef>
                <a:spcPct val="0"/>
              </a:spcBef>
            </a:pPr>
            <a:r>
              <a:rPr lang="en-US" b="true" sz="3600">
                <a:solidFill>
                  <a:srgbClr val="1F2020"/>
                </a:solidFill>
                <a:latin typeface="Bebas Neue Bold"/>
                <a:ea typeface="Bebas Neue Bold"/>
                <a:cs typeface="Bebas Neue Bold"/>
                <a:sym typeface="Bebas Neue Bold"/>
              </a:rPr>
              <a:t>Baseline (Ponto de Partida): O desempenho do ClarifyGPT conforme reportado ou replicado com o modelo original.</a:t>
            </a:r>
          </a:p>
          <a:p>
            <a:pPr algn="just">
              <a:lnSpc>
                <a:spcPts val="5040"/>
              </a:lnSpc>
              <a:spcBef>
                <a:spcPct val="0"/>
              </a:spcBef>
            </a:pPr>
          </a:p>
          <a:p>
            <a:pPr algn="just">
              <a:lnSpc>
                <a:spcPts val="5040"/>
              </a:lnSpc>
              <a:spcBef>
                <a:spcPct val="0"/>
              </a:spcBef>
            </a:pPr>
            <a:r>
              <a:rPr lang="en-US" b="true" sz="3600">
                <a:solidFill>
                  <a:srgbClr val="1F2020"/>
                </a:solidFill>
                <a:latin typeface="Bebas Neue Bold"/>
                <a:ea typeface="Bebas Neue Bold"/>
                <a:cs typeface="Bebas Neue Bold"/>
                <a:sym typeface="Bebas Neue Bold"/>
              </a:rPr>
              <a:t>Variáveis Independentes: </a:t>
            </a:r>
          </a:p>
          <a:p>
            <a:pPr algn="just">
              <a:lnSpc>
                <a:spcPts val="5040"/>
              </a:lnSpc>
              <a:spcBef>
                <a:spcPct val="0"/>
              </a:spcBef>
            </a:pPr>
          </a:p>
          <a:p>
            <a:pPr algn="just">
              <a:lnSpc>
                <a:spcPts val="5040"/>
              </a:lnSpc>
              <a:spcBef>
                <a:spcPct val="0"/>
              </a:spcBef>
            </a:pPr>
            <a:r>
              <a:rPr lang="en-US" b="true" sz="3600">
                <a:solidFill>
                  <a:srgbClr val="1F2020"/>
                </a:solidFill>
                <a:latin typeface="Bebas Neue Bold"/>
                <a:ea typeface="Bebas Neue Bold"/>
                <a:cs typeface="Bebas Neue Bold"/>
                <a:sym typeface="Bebas Neue Bold"/>
              </a:rPr>
              <a:t>Os modelos LLM inseridos no framework:</a:t>
            </a:r>
          </a:p>
          <a:p>
            <a:pPr algn="just" marL="777240" indent="-388620" lvl="1">
              <a:lnSpc>
                <a:spcPts val="5040"/>
              </a:lnSpc>
              <a:buFont typeface="Arial"/>
              <a:buChar char="•"/>
            </a:pPr>
            <a:r>
              <a:rPr lang="en-US" b="true" sz="3600">
                <a:solidFill>
                  <a:srgbClr val="1F2020"/>
                </a:solidFill>
                <a:latin typeface="Bebas Neue Bold"/>
                <a:ea typeface="Bebas Neue Bold"/>
                <a:cs typeface="Bebas Neue Bold"/>
                <a:sym typeface="Bebas Neue Bold"/>
              </a:rPr>
              <a:t>GPT-5 Nano: Modelo focado em alta velocidade e baixa latência.</a:t>
            </a:r>
          </a:p>
          <a:p>
            <a:pPr algn="just" marL="777240" indent="-388620" lvl="1">
              <a:lnSpc>
                <a:spcPts val="5040"/>
              </a:lnSpc>
              <a:buFont typeface="Arial"/>
              <a:buChar char="•"/>
            </a:pPr>
            <a:r>
              <a:rPr lang="en-US" b="true" sz="3600">
                <a:solidFill>
                  <a:srgbClr val="1F2020"/>
                </a:solidFill>
                <a:latin typeface="Bebas Neue Bold"/>
                <a:ea typeface="Bebas Neue Bold"/>
                <a:cs typeface="Bebas Neue Bold"/>
                <a:sym typeface="Bebas Neue Bold"/>
              </a:rPr>
              <a:t>GPT-5 Mini: Modelo intermediário, buscando um equilíbrio entre performance e eficiência.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142383" y="233940"/>
            <a:ext cx="12003233" cy="1395089"/>
          </a:xfrm>
          <a:prstGeom prst="rect">
            <a:avLst/>
          </a:prstGeom>
        </p:spPr>
        <p:txBody>
          <a:bodyPr anchor="t" rtlCol="false" tIns="0" lIns="0" bIns="0" rIns="0">
            <a:spAutoFit/>
          </a:bodyPr>
          <a:lstStyle/>
          <a:p>
            <a:pPr algn="ctr">
              <a:lnSpc>
                <a:spcPts val="11305"/>
              </a:lnSpc>
            </a:pPr>
            <a:r>
              <a:rPr lang="en-US" b="true" sz="8075">
                <a:solidFill>
                  <a:srgbClr val="4EE320"/>
                </a:solidFill>
                <a:latin typeface="Bebas Neue Bold"/>
                <a:ea typeface="Bebas Neue Bold"/>
                <a:cs typeface="Bebas Neue Bold"/>
                <a:sym typeface="Bebas Neue Bold"/>
              </a:rPr>
              <a:t>METODOLOGIA</a:t>
            </a:r>
          </a:p>
        </p:txBody>
      </p:sp>
      <p:sp>
        <p:nvSpPr>
          <p:cNvPr name="Freeform 4" id="4"/>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4541415" y="9464180"/>
            <a:ext cx="12717885" cy="0"/>
          </a:xfrm>
          <a:prstGeom prst="line">
            <a:avLst/>
          </a:prstGeom>
          <a:ln cap="flat" w="9525">
            <a:solidFill>
              <a:srgbClr val="0019FF"/>
            </a:solidFill>
            <a:prstDash val="solid"/>
            <a:headEnd type="none" len="sm" w="sm"/>
            <a:tailEnd type="none" len="sm" w="sm"/>
          </a:ln>
        </p:spPr>
      </p:sp>
      <p:sp>
        <p:nvSpPr>
          <p:cNvPr name="TextBox 6" id="6"/>
          <p:cNvSpPr txBox="true"/>
          <p:nvPr/>
        </p:nvSpPr>
        <p:spPr>
          <a:xfrm rot="0">
            <a:off x="1028700" y="5076825"/>
            <a:ext cx="17011165" cy="1588770"/>
          </a:xfrm>
          <a:prstGeom prst="rect">
            <a:avLst/>
          </a:prstGeom>
        </p:spPr>
        <p:txBody>
          <a:bodyPr anchor="t" rtlCol="false" tIns="0" lIns="0" bIns="0" rIns="0">
            <a:spAutoFit/>
          </a:bodyPr>
          <a:lstStyle/>
          <a:p>
            <a:pPr algn="l" marL="777240" indent="-388620" lvl="1">
              <a:lnSpc>
                <a:spcPts val="5040"/>
              </a:lnSpc>
              <a:buFont typeface="Arial"/>
              <a:buChar char="•"/>
            </a:pPr>
            <a:r>
              <a:rPr lang="en-US" b="true" sz="3600">
                <a:solidFill>
                  <a:srgbClr val="1F2020"/>
                </a:solidFill>
                <a:latin typeface="Bebas Neue Bold"/>
                <a:ea typeface="Bebas Neue Bold"/>
                <a:cs typeface="Bebas Neue Bold"/>
                <a:sym typeface="Bebas Neue Bold"/>
              </a:rPr>
              <a:t>Remoção de Parâmetros Depreciados</a:t>
            </a:r>
          </a:p>
          <a:p>
            <a:pPr algn="l" marL="777240" indent="-388620" lvl="1">
              <a:lnSpc>
                <a:spcPts val="5040"/>
              </a:lnSpc>
              <a:buFont typeface="Arial"/>
              <a:buChar char="•"/>
            </a:pPr>
            <a:r>
              <a:rPr lang="en-US" b="true" sz="3600">
                <a:solidFill>
                  <a:srgbClr val="1F2020"/>
                </a:solidFill>
                <a:latin typeface="Bebas Neue Bold"/>
                <a:ea typeface="Bebas Neue Bold"/>
                <a:cs typeface="Bebas Neue Bold"/>
                <a:sym typeface="Bebas Neue Bold"/>
              </a:rPr>
              <a:t>Alteração na quantidade de Tokens</a:t>
            </a:r>
          </a:p>
          <a:p>
            <a:pPr algn="l">
              <a:lnSpc>
                <a:spcPts val="2520"/>
              </a:lnSpc>
              <a:spcBef>
                <a:spcPct val="0"/>
              </a:spcBef>
            </a:pPr>
          </a:p>
        </p:txBody>
      </p:sp>
      <p:sp>
        <p:nvSpPr>
          <p:cNvPr name="TextBox 7" id="7"/>
          <p:cNvSpPr txBox="true"/>
          <p:nvPr/>
        </p:nvSpPr>
        <p:spPr>
          <a:xfrm rot="0">
            <a:off x="1028700" y="2408047"/>
            <a:ext cx="17259300" cy="1889760"/>
          </a:xfrm>
          <a:prstGeom prst="rect">
            <a:avLst/>
          </a:prstGeom>
        </p:spPr>
        <p:txBody>
          <a:bodyPr anchor="t" rtlCol="false" tIns="0" lIns="0" bIns="0" rIns="0">
            <a:spAutoFit/>
          </a:bodyPr>
          <a:lstStyle/>
          <a:p>
            <a:pPr algn="l">
              <a:lnSpc>
                <a:spcPts val="5040"/>
              </a:lnSpc>
              <a:spcBef>
                <a:spcPct val="0"/>
              </a:spcBef>
            </a:pPr>
            <a:r>
              <a:rPr lang="en-US" b="true" sz="3600">
                <a:solidFill>
                  <a:srgbClr val="000000"/>
                </a:solidFill>
                <a:latin typeface="Bebas Neue Bold"/>
                <a:ea typeface="Bebas Neue Bold"/>
                <a:cs typeface="Bebas Neue Bold"/>
                <a:sym typeface="Bebas Neue Bold"/>
              </a:rPr>
              <a:t>AJUSTES EM RELAÇÃO AOS MODELOS ANTERIORES:</a:t>
            </a:r>
          </a:p>
          <a:p>
            <a:pPr algn="l">
              <a:lnSpc>
                <a:spcPts val="5040"/>
              </a:lnSpc>
              <a:spcBef>
                <a:spcPct val="0"/>
              </a:spcBef>
            </a:pPr>
            <a:r>
              <a:rPr lang="en-US" b="true" sz="3600">
                <a:solidFill>
                  <a:srgbClr val="000000"/>
                </a:solidFill>
                <a:latin typeface="Bebas Neue Bold"/>
                <a:ea typeface="Bebas Neue Bold"/>
                <a:cs typeface="Bebas Neue Bold"/>
                <a:sym typeface="Bebas Neue Bold"/>
              </a:rPr>
              <a:t>A TRANSIÇÃO PARA AS ARQUITETURAS GPT-5 NANO E MINI IMPÔS MUDANÇAS TÉCNICAS IMPORTANTES EM RELAÇÃO AOS PARÂMETROS QUE ERAM COMUMENTE UTILIZADOS EM MODELOS DA GERAÇÃO ANTERIOR (COMO GPT-4)</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142383" y="233940"/>
            <a:ext cx="12003233" cy="1395089"/>
          </a:xfrm>
          <a:prstGeom prst="rect">
            <a:avLst/>
          </a:prstGeom>
        </p:spPr>
        <p:txBody>
          <a:bodyPr anchor="t" rtlCol="false" tIns="0" lIns="0" bIns="0" rIns="0">
            <a:spAutoFit/>
          </a:bodyPr>
          <a:lstStyle/>
          <a:p>
            <a:pPr algn="ctr">
              <a:lnSpc>
                <a:spcPts val="11305"/>
              </a:lnSpc>
            </a:pPr>
            <a:r>
              <a:rPr lang="en-US" b="true" sz="8075">
                <a:solidFill>
                  <a:srgbClr val="4EE320"/>
                </a:solidFill>
                <a:latin typeface="Bebas Neue Bold"/>
                <a:ea typeface="Bebas Neue Bold"/>
                <a:cs typeface="Bebas Neue Bold"/>
                <a:sym typeface="Bebas Neue Bold"/>
              </a:rPr>
              <a:t>METODOLOGIA</a:t>
            </a:r>
          </a:p>
        </p:txBody>
      </p:sp>
      <p:sp>
        <p:nvSpPr>
          <p:cNvPr name="Freeform 4" id="4"/>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4541415" y="9464180"/>
            <a:ext cx="12717885" cy="0"/>
          </a:xfrm>
          <a:prstGeom prst="line">
            <a:avLst/>
          </a:prstGeom>
          <a:ln cap="flat" w="9525">
            <a:solidFill>
              <a:srgbClr val="0019FF"/>
            </a:solidFill>
            <a:prstDash val="solid"/>
            <a:headEnd type="none" len="sm" w="sm"/>
            <a:tailEnd type="none" len="sm" w="sm"/>
          </a:ln>
        </p:spPr>
      </p:sp>
      <p:sp>
        <p:nvSpPr>
          <p:cNvPr name="TextBox 6" id="6"/>
          <p:cNvSpPr txBox="true"/>
          <p:nvPr/>
        </p:nvSpPr>
        <p:spPr>
          <a:xfrm rot="0">
            <a:off x="10451282" y="2430407"/>
            <a:ext cx="6953390" cy="5718810"/>
          </a:xfrm>
          <a:prstGeom prst="rect">
            <a:avLst/>
          </a:prstGeom>
        </p:spPr>
        <p:txBody>
          <a:bodyPr anchor="t" rtlCol="false" tIns="0" lIns="0" bIns="0" rIns="0">
            <a:spAutoFit/>
          </a:bodyPr>
          <a:lstStyle/>
          <a:p>
            <a:pPr algn="just">
              <a:lnSpc>
                <a:spcPts val="5040"/>
              </a:lnSpc>
              <a:spcBef>
                <a:spcPct val="0"/>
              </a:spcBef>
            </a:pPr>
            <a:r>
              <a:rPr lang="en-US" b="true" sz="3600">
                <a:solidFill>
                  <a:srgbClr val="000000"/>
                </a:solidFill>
                <a:latin typeface="Bebas Neue Bold"/>
                <a:ea typeface="Bebas Neue Bold"/>
                <a:cs typeface="Bebas Neue Bold"/>
                <a:sym typeface="Bebas Neue Bold"/>
              </a:rPr>
              <a:t>💡 O QUE APARECEU</a:t>
            </a:r>
          </a:p>
          <a:p>
            <a:pPr algn="just">
              <a:lnSpc>
                <a:spcPts val="5040"/>
              </a:lnSpc>
              <a:spcBef>
                <a:spcPct val="0"/>
              </a:spcBef>
            </a:pPr>
          </a:p>
          <a:p>
            <a:pPr algn="just" marL="777240" indent="-388620" lvl="1">
              <a:lnSpc>
                <a:spcPts val="5040"/>
              </a:lnSpc>
              <a:buFont typeface="Arial"/>
              <a:buChar char="•"/>
            </a:pPr>
            <a:r>
              <a:rPr lang="en-US" b="true" sz="3600">
                <a:solidFill>
                  <a:srgbClr val="4EE320"/>
                </a:solidFill>
                <a:latin typeface="Bebas Neue Bold"/>
                <a:ea typeface="Bebas Neue Bold"/>
                <a:cs typeface="Bebas Neue Bold"/>
                <a:sym typeface="Bebas Neue Bold"/>
              </a:rPr>
              <a:t>REASONING_EFFORT</a:t>
            </a:r>
          </a:p>
          <a:p>
            <a:pPr algn="just" marL="777240" indent="-388620" lvl="1">
              <a:lnSpc>
                <a:spcPts val="5040"/>
              </a:lnSpc>
              <a:buFont typeface="Arial"/>
              <a:buChar char="•"/>
            </a:pPr>
            <a:r>
              <a:rPr lang="en-US" b="true" sz="3600">
                <a:solidFill>
                  <a:srgbClr val="4EE320"/>
                </a:solidFill>
                <a:latin typeface="Bebas Neue Bold"/>
                <a:ea typeface="Bebas Neue Bold"/>
                <a:cs typeface="Bebas Neue Bold"/>
                <a:sym typeface="Bebas Neue Bold"/>
              </a:rPr>
              <a:t>VERBOSITY</a:t>
            </a:r>
          </a:p>
          <a:p>
            <a:pPr algn="just" marL="777240" indent="-388620" lvl="1">
              <a:lnSpc>
                <a:spcPts val="5040"/>
              </a:lnSpc>
              <a:buFont typeface="Arial"/>
              <a:buChar char="•"/>
            </a:pPr>
            <a:r>
              <a:rPr lang="en-US" b="true" sz="3600">
                <a:solidFill>
                  <a:srgbClr val="000000"/>
                </a:solidFill>
                <a:latin typeface="Bebas Neue Bold"/>
                <a:ea typeface="Bebas Neue Bold"/>
                <a:cs typeface="Bebas Neue Bold"/>
                <a:sym typeface="Bebas Neue Bold"/>
              </a:rPr>
              <a:t>FERRAMENTAS NATIVAS</a:t>
            </a:r>
          </a:p>
          <a:p>
            <a:pPr algn="just" marL="777240" indent="-388620" lvl="1">
              <a:lnSpc>
                <a:spcPts val="5040"/>
              </a:lnSpc>
              <a:buFont typeface="Arial"/>
              <a:buChar char="•"/>
            </a:pPr>
            <a:r>
              <a:rPr lang="en-US" b="true" sz="3600">
                <a:solidFill>
                  <a:srgbClr val="000000"/>
                </a:solidFill>
                <a:latin typeface="Bebas Neue Bold"/>
                <a:ea typeface="Bebas Neue Bold"/>
                <a:cs typeface="Bebas Neue Bold"/>
                <a:sym typeface="Bebas Neue Bold"/>
              </a:rPr>
              <a:t>ROTEAMENTO INTELIGENTE INTERNO</a:t>
            </a:r>
          </a:p>
          <a:p>
            <a:pPr algn="just" marL="777240" indent="-388620" lvl="1">
              <a:lnSpc>
                <a:spcPts val="5040"/>
              </a:lnSpc>
              <a:buFont typeface="Arial"/>
              <a:buChar char="•"/>
            </a:pPr>
            <a:r>
              <a:rPr lang="en-US" b="true" sz="3600">
                <a:solidFill>
                  <a:srgbClr val="000000"/>
                </a:solidFill>
                <a:latin typeface="Bebas Neue Bold"/>
                <a:ea typeface="Bebas Neue Bold"/>
                <a:cs typeface="Bebas Neue Bold"/>
                <a:sym typeface="Bebas Neue Bold"/>
              </a:rPr>
              <a:t>MULTIMODALIDADE OBRIGATÓRIA</a:t>
            </a:r>
          </a:p>
          <a:p>
            <a:pPr algn="just" marL="777240" indent="-388620" lvl="1">
              <a:lnSpc>
                <a:spcPts val="5040"/>
              </a:lnSpc>
              <a:buFont typeface="Arial"/>
              <a:buChar char="•"/>
            </a:pPr>
            <a:r>
              <a:rPr lang="en-US" b="true" sz="3600">
                <a:solidFill>
                  <a:srgbClr val="000000"/>
                </a:solidFill>
                <a:latin typeface="Bebas Neue Bold"/>
                <a:ea typeface="Bebas Neue Bold"/>
                <a:cs typeface="Bebas Neue Bold"/>
                <a:sym typeface="Bebas Neue Bold"/>
              </a:rPr>
              <a:t>CAPACIDADE DE CONTEXTO GIGANTE</a:t>
            </a:r>
          </a:p>
          <a:p>
            <a:pPr algn="just" marL="777240" indent="-388620" lvl="1">
              <a:lnSpc>
                <a:spcPts val="5040"/>
              </a:lnSpc>
              <a:buFont typeface="Arial"/>
              <a:buChar char="•"/>
            </a:pPr>
            <a:r>
              <a:rPr lang="en-US" b="true" sz="3600">
                <a:solidFill>
                  <a:srgbClr val="000000"/>
                </a:solidFill>
                <a:latin typeface="Bebas Neue Bold"/>
                <a:ea typeface="Bebas Neue Bold"/>
                <a:cs typeface="Bebas Neue Bold"/>
                <a:sym typeface="Bebas Neue Bold"/>
              </a:rPr>
              <a:t>CHAMADAS PARALELAS DE FERRAMENTAS</a:t>
            </a:r>
          </a:p>
        </p:txBody>
      </p:sp>
      <p:sp>
        <p:nvSpPr>
          <p:cNvPr name="TextBox 7" id="7"/>
          <p:cNvSpPr txBox="true"/>
          <p:nvPr/>
        </p:nvSpPr>
        <p:spPr>
          <a:xfrm rot="0">
            <a:off x="1821514" y="2430407"/>
            <a:ext cx="6524327" cy="5718810"/>
          </a:xfrm>
          <a:prstGeom prst="rect">
            <a:avLst/>
          </a:prstGeom>
        </p:spPr>
        <p:txBody>
          <a:bodyPr anchor="t" rtlCol="false" tIns="0" lIns="0" bIns="0" rIns="0">
            <a:spAutoFit/>
          </a:bodyPr>
          <a:lstStyle/>
          <a:p>
            <a:pPr algn="l">
              <a:lnSpc>
                <a:spcPts val="5040"/>
              </a:lnSpc>
              <a:spcBef>
                <a:spcPct val="0"/>
              </a:spcBef>
            </a:pPr>
            <a:r>
              <a:rPr lang="en-US" b="true" sz="3600">
                <a:solidFill>
                  <a:srgbClr val="000000"/>
                </a:solidFill>
                <a:latin typeface="Bebas Neue Bold"/>
                <a:ea typeface="Bebas Neue Bold"/>
                <a:cs typeface="Bebas Neue Bold"/>
                <a:sym typeface="Bebas Neue Bold"/>
              </a:rPr>
              <a:t>❌ O QUE SUMIU NO GPT-5</a:t>
            </a:r>
          </a:p>
          <a:p>
            <a:pPr algn="l">
              <a:lnSpc>
                <a:spcPts val="5040"/>
              </a:lnSpc>
              <a:spcBef>
                <a:spcPct val="0"/>
              </a:spcBef>
            </a:pPr>
          </a:p>
          <a:p>
            <a:pPr algn="l" marL="777240" indent="-388620" lvl="1">
              <a:lnSpc>
                <a:spcPts val="5040"/>
              </a:lnSpc>
              <a:buFont typeface="Arial"/>
              <a:buChar char="•"/>
            </a:pPr>
            <a:r>
              <a:rPr lang="en-US" b="true" sz="3600">
                <a:solidFill>
                  <a:srgbClr val="4EE320"/>
                </a:solidFill>
                <a:latin typeface="Bebas Neue Bold"/>
                <a:ea typeface="Bebas Neue Bold"/>
                <a:cs typeface="Bebas Neue Bold"/>
                <a:sym typeface="Bebas Neue Bold"/>
              </a:rPr>
              <a:t>TEMPERATURE</a:t>
            </a:r>
          </a:p>
          <a:p>
            <a:pPr algn="l" marL="777240" indent="-388620" lvl="1">
              <a:lnSpc>
                <a:spcPts val="5040"/>
              </a:lnSpc>
              <a:buFont typeface="Arial"/>
              <a:buChar char="•"/>
            </a:pPr>
            <a:r>
              <a:rPr lang="en-US" b="true" sz="3600">
                <a:solidFill>
                  <a:srgbClr val="4EE320"/>
                </a:solidFill>
                <a:latin typeface="Bebas Neue Bold"/>
                <a:ea typeface="Bebas Neue Bold"/>
                <a:cs typeface="Bebas Neue Bold"/>
                <a:sym typeface="Bebas Neue Bold"/>
              </a:rPr>
              <a:t>TOP_P</a:t>
            </a:r>
          </a:p>
          <a:p>
            <a:pPr algn="l" marL="777240" indent="-388620" lvl="1">
              <a:lnSpc>
                <a:spcPts val="5040"/>
              </a:lnSpc>
              <a:buFont typeface="Arial"/>
              <a:buChar char="•"/>
            </a:pPr>
            <a:r>
              <a:rPr lang="en-US" b="true" sz="3600">
                <a:solidFill>
                  <a:srgbClr val="4EE320"/>
                </a:solidFill>
                <a:latin typeface="Bebas Neue Bold"/>
                <a:ea typeface="Bebas Neue Bold"/>
                <a:cs typeface="Bebas Neue Bold"/>
                <a:sym typeface="Bebas Neue Bold"/>
              </a:rPr>
              <a:t>FREQUENCY_PENALTY</a:t>
            </a:r>
          </a:p>
          <a:p>
            <a:pPr algn="l" marL="777240" indent="-388620" lvl="1">
              <a:lnSpc>
                <a:spcPts val="5040"/>
              </a:lnSpc>
              <a:buFont typeface="Arial"/>
              <a:buChar char="•"/>
            </a:pPr>
            <a:r>
              <a:rPr lang="en-US" b="true" sz="3600">
                <a:solidFill>
                  <a:srgbClr val="4EE320"/>
                </a:solidFill>
                <a:latin typeface="Bebas Neue Bold"/>
                <a:ea typeface="Bebas Neue Bold"/>
                <a:cs typeface="Bebas Neue Bold"/>
                <a:sym typeface="Bebas Neue Bold"/>
              </a:rPr>
              <a:t>PRESENCE_PENALTY</a:t>
            </a:r>
          </a:p>
          <a:p>
            <a:pPr algn="l" marL="777240" indent="-388620" lvl="1">
              <a:lnSpc>
                <a:spcPts val="5040"/>
              </a:lnSpc>
              <a:buFont typeface="Arial"/>
              <a:buChar char="•"/>
            </a:pPr>
            <a:r>
              <a:rPr lang="en-US" b="true" sz="3600">
                <a:solidFill>
                  <a:srgbClr val="000000"/>
                </a:solidFill>
                <a:latin typeface="Bebas Neue Bold"/>
                <a:ea typeface="Bebas Neue Bold"/>
                <a:cs typeface="Bebas Neue Bold"/>
                <a:sym typeface="Bebas Neue Bold"/>
              </a:rPr>
              <a:t>MODELOS EXCLUSIVAMENTE DE TEXTO</a:t>
            </a:r>
          </a:p>
          <a:p>
            <a:pPr algn="l" marL="777240" indent="-388620" lvl="1">
              <a:lnSpc>
                <a:spcPts val="5040"/>
              </a:lnSpc>
              <a:buFont typeface="Arial"/>
              <a:buChar char="•"/>
            </a:pPr>
            <a:r>
              <a:rPr lang="en-US" b="true" sz="3600">
                <a:solidFill>
                  <a:srgbClr val="000000"/>
                </a:solidFill>
                <a:latin typeface="Bebas Neue Bold"/>
                <a:ea typeface="Bebas Neue Bold"/>
                <a:cs typeface="Bebas Neue Bold"/>
                <a:sym typeface="Bebas Neue Bold"/>
              </a:rPr>
              <a:t>ACESSO EXPLÍCITO A LOGPROBS</a:t>
            </a:r>
          </a:p>
          <a:p>
            <a:pPr algn="l" marL="777240" indent="-388620" lvl="1">
              <a:lnSpc>
                <a:spcPts val="5040"/>
              </a:lnSpc>
              <a:buFont typeface="Arial"/>
              <a:buChar char="•"/>
            </a:pPr>
            <a:r>
              <a:rPr lang="en-US" b="true" sz="3600">
                <a:solidFill>
                  <a:srgbClr val="000000"/>
                </a:solidFill>
                <a:latin typeface="Bebas Neue Bold"/>
                <a:ea typeface="Bebas Neue Bold"/>
                <a:cs typeface="Bebas Neue Bold"/>
                <a:sym typeface="Bebas Neue Bold"/>
              </a:rPr>
              <a:t>PARTE DA PARAMETRIZAÇÃO DE SAMPLING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4541415" y="9464180"/>
            <a:ext cx="12717885" cy="0"/>
          </a:xfrm>
          <a:prstGeom prst="line">
            <a:avLst/>
          </a:prstGeom>
          <a:ln cap="flat" w="9525">
            <a:solidFill>
              <a:srgbClr val="0019FF"/>
            </a:solidFill>
            <a:prstDash val="solid"/>
            <a:headEnd type="none" len="sm" w="sm"/>
            <a:tailEnd type="none" len="sm" w="sm"/>
          </a:ln>
        </p:spPr>
      </p:sp>
      <p:graphicFrame>
        <p:nvGraphicFramePr>
          <p:cNvPr name="Object 5" id="5"/>
          <p:cNvGraphicFramePr/>
          <p:nvPr/>
        </p:nvGraphicFramePr>
        <p:xfrm>
          <a:off x="1300442" y="2054753"/>
          <a:ext cx="5657850" cy="5029200"/>
        </p:xfrm>
        <a:graphic>
          <a:graphicData uri="http://schemas.openxmlformats.org/presentationml/2006/ole">
            <p:oleObj imgW="6781800" imgH="61595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6" id="6"/>
          <p:cNvSpPr txBox="true"/>
          <p:nvPr/>
        </p:nvSpPr>
        <p:spPr>
          <a:xfrm rot="0">
            <a:off x="3142383" y="233940"/>
            <a:ext cx="12003233" cy="1395089"/>
          </a:xfrm>
          <a:prstGeom prst="rect">
            <a:avLst/>
          </a:prstGeom>
        </p:spPr>
        <p:txBody>
          <a:bodyPr anchor="t" rtlCol="false" tIns="0" lIns="0" bIns="0" rIns="0">
            <a:spAutoFit/>
          </a:bodyPr>
          <a:lstStyle/>
          <a:p>
            <a:pPr algn="ctr">
              <a:lnSpc>
                <a:spcPts val="11305"/>
              </a:lnSpc>
            </a:pPr>
            <a:r>
              <a:rPr lang="en-US" b="true" sz="8075">
                <a:solidFill>
                  <a:srgbClr val="4EE320"/>
                </a:solidFill>
                <a:latin typeface="Bebas Neue Bold"/>
                <a:ea typeface="Bebas Neue Bold"/>
                <a:cs typeface="Bebas Neue Bold"/>
                <a:sym typeface="Bebas Neue Bold"/>
              </a:rPr>
              <a:t>METODOLOGIA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4541415" y="9464180"/>
            <a:ext cx="12717885" cy="0"/>
          </a:xfrm>
          <a:prstGeom prst="line">
            <a:avLst/>
          </a:prstGeom>
          <a:ln cap="flat" w="9525">
            <a:solidFill>
              <a:srgbClr val="0019FF"/>
            </a:solidFill>
            <a:prstDash val="solid"/>
            <a:headEnd type="none" len="sm" w="sm"/>
            <a:tailEnd type="none" len="sm" w="sm"/>
          </a:ln>
        </p:spPr>
      </p:sp>
      <p:sp>
        <p:nvSpPr>
          <p:cNvPr name="TextBox 5" id="5"/>
          <p:cNvSpPr txBox="true"/>
          <p:nvPr/>
        </p:nvSpPr>
        <p:spPr>
          <a:xfrm rot="0">
            <a:off x="3142383" y="130086"/>
            <a:ext cx="12003233" cy="1411542"/>
          </a:xfrm>
          <a:prstGeom prst="rect">
            <a:avLst/>
          </a:prstGeom>
        </p:spPr>
        <p:txBody>
          <a:bodyPr anchor="t" rtlCol="false" tIns="0" lIns="0" bIns="0" rIns="0">
            <a:spAutoFit/>
          </a:bodyPr>
          <a:lstStyle/>
          <a:p>
            <a:pPr algn="ctr">
              <a:lnSpc>
                <a:spcPts val="11448"/>
              </a:lnSpc>
            </a:pPr>
            <a:r>
              <a:rPr lang="en-US" b="true" sz="8177">
                <a:solidFill>
                  <a:srgbClr val="4EE320"/>
                </a:solidFill>
                <a:latin typeface="Bebas Neue Bold"/>
                <a:ea typeface="Bebas Neue Bold"/>
                <a:cs typeface="Bebas Neue Bold"/>
                <a:sym typeface="Bebas Neue Bold"/>
              </a:rPr>
              <a:t>RESULTADOS E COMPARAÇÃO</a:t>
            </a:r>
          </a:p>
        </p:txBody>
      </p:sp>
      <p:sp>
        <p:nvSpPr>
          <p:cNvPr name="TextBox 6" id="6"/>
          <p:cNvSpPr txBox="true"/>
          <p:nvPr/>
        </p:nvSpPr>
        <p:spPr>
          <a:xfrm rot="0">
            <a:off x="7719723" y="1184925"/>
            <a:ext cx="2342406" cy="1395089"/>
          </a:xfrm>
          <a:prstGeom prst="rect">
            <a:avLst/>
          </a:prstGeom>
        </p:spPr>
        <p:txBody>
          <a:bodyPr anchor="t" rtlCol="false" tIns="0" lIns="0" bIns="0" rIns="0">
            <a:spAutoFit/>
          </a:bodyPr>
          <a:lstStyle/>
          <a:p>
            <a:pPr algn="ctr">
              <a:lnSpc>
                <a:spcPts val="11305"/>
              </a:lnSpc>
              <a:spcBef>
                <a:spcPct val="0"/>
              </a:spcBef>
            </a:pPr>
            <a:r>
              <a:rPr lang="en-US" b="true" sz="8075">
                <a:solidFill>
                  <a:srgbClr val="000000"/>
                </a:solidFill>
                <a:latin typeface="Bebas Neue Bold"/>
                <a:ea typeface="Bebas Neue Bold"/>
                <a:cs typeface="Bebas Neue Bold"/>
                <a:sym typeface="Bebas Neue Bold"/>
              </a:rPr>
              <a:t>CUSTOS</a:t>
            </a:r>
          </a:p>
        </p:txBody>
      </p:sp>
      <p:sp>
        <p:nvSpPr>
          <p:cNvPr name="TextBox 7" id="7"/>
          <p:cNvSpPr txBox="true"/>
          <p:nvPr/>
        </p:nvSpPr>
        <p:spPr>
          <a:xfrm rot="0">
            <a:off x="0" y="3989467"/>
            <a:ext cx="6503586" cy="1713433"/>
          </a:xfrm>
          <a:prstGeom prst="rect">
            <a:avLst/>
          </a:prstGeom>
        </p:spPr>
        <p:txBody>
          <a:bodyPr anchor="t" rtlCol="false" tIns="0" lIns="0" bIns="0" rIns="0">
            <a:spAutoFit/>
          </a:bodyPr>
          <a:lstStyle/>
          <a:p>
            <a:pPr algn="ctr">
              <a:lnSpc>
                <a:spcPts val="4530"/>
              </a:lnSpc>
              <a:spcBef>
                <a:spcPct val="0"/>
              </a:spcBef>
            </a:pPr>
            <a:r>
              <a:rPr lang="en-US" b="true" sz="3235">
                <a:solidFill>
                  <a:srgbClr val="000000"/>
                </a:solidFill>
                <a:latin typeface="Bebas Neue Bold"/>
                <a:ea typeface="Bebas Neue Bold"/>
                <a:cs typeface="Bebas Neue Bold"/>
                <a:sym typeface="Bebas Neue Bold"/>
              </a:rPr>
              <a:t>TOTAL_COST = $ 0.2369116</a:t>
            </a:r>
          </a:p>
          <a:p>
            <a:pPr algn="ctr">
              <a:lnSpc>
                <a:spcPts val="4530"/>
              </a:lnSpc>
              <a:spcBef>
                <a:spcPct val="0"/>
              </a:spcBef>
            </a:pPr>
            <a:r>
              <a:rPr lang="en-US" b="true" sz="3235">
                <a:solidFill>
                  <a:srgbClr val="000000"/>
                </a:solidFill>
                <a:latin typeface="Bebas Neue Bold"/>
                <a:ea typeface="Bebas Neue Bold"/>
                <a:cs typeface="Bebas Neue Bold"/>
                <a:sym typeface="Bebas Neue Bold"/>
              </a:rPr>
              <a:t>AVERAGE_COST_PER_ENTRY = $ 0.00136156091954023</a:t>
            </a:r>
          </a:p>
        </p:txBody>
      </p:sp>
      <p:sp>
        <p:nvSpPr>
          <p:cNvPr name="TextBox 8" id="8"/>
          <p:cNvSpPr txBox="true"/>
          <p:nvPr/>
        </p:nvSpPr>
        <p:spPr>
          <a:xfrm rot="0">
            <a:off x="1777305" y="3057084"/>
            <a:ext cx="2764110" cy="864811"/>
          </a:xfrm>
          <a:prstGeom prst="rect">
            <a:avLst/>
          </a:prstGeom>
        </p:spPr>
        <p:txBody>
          <a:bodyPr anchor="t" rtlCol="false" tIns="0" lIns="0" bIns="0" rIns="0">
            <a:spAutoFit/>
          </a:bodyPr>
          <a:lstStyle/>
          <a:p>
            <a:pPr algn="ctr">
              <a:lnSpc>
                <a:spcPts val="6967"/>
              </a:lnSpc>
              <a:spcBef>
                <a:spcPct val="0"/>
              </a:spcBef>
            </a:pPr>
            <a:r>
              <a:rPr lang="en-US" b="true" sz="4977">
                <a:solidFill>
                  <a:srgbClr val="000000"/>
                </a:solidFill>
                <a:latin typeface="Bebas Neue Bold"/>
                <a:ea typeface="Bebas Neue Bold"/>
                <a:cs typeface="Bebas Neue Bold"/>
                <a:sym typeface="Bebas Neue Bold"/>
              </a:rPr>
              <a:t>NANO-MEDIUM</a:t>
            </a:r>
          </a:p>
        </p:txBody>
      </p:sp>
      <p:sp>
        <p:nvSpPr>
          <p:cNvPr name="TextBox 9" id="9"/>
          <p:cNvSpPr txBox="true"/>
          <p:nvPr/>
        </p:nvSpPr>
        <p:spPr>
          <a:xfrm rot="0">
            <a:off x="7719723" y="2965980"/>
            <a:ext cx="2737984" cy="955915"/>
          </a:xfrm>
          <a:prstGeom prst="rect">
            <a:avLst/>
          </a:prstGeom>
        </p:spPr>
        <p:txBody>
          <a:bodyPr anchor="t" rtlCol="false" tIns="0" lIns="0" bIns="0" rIns="0">
            <a:spAutoFit/>
          </a:bodyPr>
          <a:lstStyle/>
          <a:p>
            <a:pPr algn="ctr">
              <a:lnSpc>
                <a:spcPts val="7628"/>
              </a:lnSpc>
              <a:spcBef>
                <a:spcPct val="0"/>
              </a:spcBef>
            </a:pPr>
            <a:r>
              <a:rPr lang="en-US" b="true" sz="5448">
                <a:solidFill>
                  <a:srgbClr val="000000"/>
                </a:solidFill>
                <a:latin typeface="Bebas Neue Bold"/>
                <a:ea typeface="Bebas Neue Bold"/>
                <a:cs typeface="Bebas Neue Bold"/>
                <a:sym typeface="Bebas Neue Bold"/>
              </a:rPr>
              <a:t>3.5-TURBO</a:t>
            </a:r>
          </a:p>
        </p:txBody>
      </p:sp>
      <p:sp>
        <p:nvSpPr>
          <p:cNvPr name="TextBox 10" id="10"/>
          <p:cNvSpPr txBox="true"/>
          <p:nvPr/>
        </p:nvSpPr>
        <p:spPr>
          <a:xfrm rot="0">
            <a:off x="6503586" y="3979942"/>
            <a:ext cx="5321884" cy="1769201"/>
          </a:xfrm>
          <a:prstGeom prst="rect">
            <a:avLst/>
          </a:prstGeom>
        </p:spPr>
        <p:txBody>
          <a:bodyPr anchor="t" rtlCol="false" tIns="0" lIns="0" bIns="0" rIns="0">
            <a:spAutoFit/>
          </a:bodyPr>
          <a:lstStyle/>
          <a:p>
            <a:pPr algn="ctr">
              <a:lnSpc>
                <a:spcPts val="4657"/>
              </a:lnSpc>
              <a:spcBef>
                <a:spcPct val="0"/>
              </a:spcBef>
            </a:pPr>
            <a:r>
              <a:rPr lang="en-US" b="true" sz="3326">
                <a:solidFill>
                  <a:srgbClr val="000000"/>
                </a:solidFill>
                <a:latin typeface="Bebas Neue Bold"/>
                <a:ea typeface="Bebas Neue Bold"/>
                <a:cs typeface="Bebas Neue Bold"/>
                <a:sym typeface="Bebas Neue Bold"/>
              </a:rPr>
              <a:t>TOTAL_COST = $ 0.764082</a:t>
            </a:r>
          </a:p>
          <a:p>
            <a:pPr algn="ctr">
              <a:lnSpc>
                <a:spcPts val="4657"/>
              </a:lnSpc>
              <a:spcBef>
                <a:spcPct val="0"/>
              </a:spcBef>
            </a:pPr>
            <a:r>
              <a:rPr lang="en-US" b="true" sz="3326">
                <a:solidFill>
                  <a:srgbClr val="000000"/>
                </a:solidFill>
                <a:latin typeface="Bebas Neue Bold"/>
                <a:ea typeface="Bebas Neue Bold"/>
                <a:cs typeface="Bebas Neue Bold"/>
                <a:sym typeface="Bebas Neue Bold"/>
              </a:rPr>
              <a:t>AVERAGE_COST_PER_ENTRY = $ 0.004391275862068966</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142383" y="130086"/>
            <a:ext cx="12003233" cy="1411542"/>
          </a:xfrm>
          <a:prstGeom prst="rect">
            <a:avLst/>
          </a:prstGeom>
        </p:spPr>
        <p:txBody>
          <a:bodyPr anchor="t" rtlCol="false" tIns="0" lIns="0" bIns="0" rIns="0">
            <a:spAutoFit/>
          </a:bodyPr>
          <a:lstStyle/>
          <a:p>
            <a:pPr algn="ctr">
              <a:lnSpc>
                <a:spcPts val="11448"/>
              </a:lnSpc>
            </a:pPr>
            <a:r>
              <a:rPr lang="en-US" b="true" sz="8177">
                <a:solidFill>
                  <a:srgbClr val="1F2020"/>
                </a:solidFill>
                <a:latin typeface="Bebas Neue Bold"/>
                <a:ea typeface="Bebas Neue Bold"/>
                <a:cs typeface="Bebas Neue Bold"/>
                <a:sym typeface="Bebas Neue Bold"/>
              </a:rPr>
              <a:t>DISCUSSÃO E CONCLUSÃO</a:t>
            </a:r>
          </a:p>
        </p:txBody>
      </p:sp>
      <p:sp>
        <p:nvSpPr>
          <p:cNvPr name="TextBox 4" id="4"/>
          <p:cNvSpPr txBox="true"/>
          <p:nvPr/>
        </p:nvSpPr>
        <p:spPr>
          <a:xfrm rot="0">
            <a:off x="1821514" y="3119291"/>
            <a:ext cx="15437786" cy="4631846"/>
          </a:xfrm>
          <a:prstGeom prst="rect">
            <a:avLst/>
          </a:prstGeom>
        </p:spPr>
        <p:txBody>
          <a:bodyPr anchor="t" rtlCol="false" tIns="0" lIns="0" bIns="0" rIns="0">
            <a:spAutoFit/>
          </a:bodyPr>
          <a:lstStyle/>
          <a:p>
            <a:pPr algn="ctr">
              <a:lnSpc>
                <a:spcPts val="4576"/>
              </a:lnSpc>
              <a:spcBef>
                <a:spcPct val="0"/>
              </a:spcBef>
            </a:pPr>
            <a:r>
              <a:rPr lang="en-US" sz="3268">
                <a:solidFill>
                  <a:srgbClr val="1F2020"/>
                </a:solidFill>
                <a:latin typeface="Canva Sans"/>
                <a:ea typeface="Canva Sans"/>
                <a:cs typeface="Canva Sans"/>
                <a:sym typeface="Canva Sans"/>
              </a:rPr>
              <a:t> Lorem ipsum dolor sit amet, consectetur adipiscing elit. Duis vel dolor ante. Nullam feugiat egestas elit et vehicula. Proin venenatis, orci nec cursus tristique, nulla risus mattis eros, id accumsan massa elit eu augue. Mauris massa ipsum, pharetra id nibh eget, sodales facilisis enim. Lorem ipsum dolor sit amet, consectetur adipiscing elit. Duis vel dolor ante. Nullam feugiat egestas elit et vehicula. Proin venenatis, orci nec cursus tristique, nulla risus mattis eros, id accumsan massa elit eu augue. Mauris massa ipsum, pharetra id nibh eget, sodales facilisis enim.</a:t>
            </a:r>
          </a:p>
        </p:txBody>
      </p:sp>
      <p:sp>
        <p:nvSpPr>
          <p:cNvPr name="Freeform 5" id="5"/>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4541415" y="9464180"/>
            <a:ext cx="12717885" cy="0"/>
          </a:xfrm>
          <a:prstGeom prst="line">
            <a:avLst/>
          </a:prstGeom>
          <a:ln cap="flat" w="9525">
            <a:solidFill>
              <a:srgbClr val="0019FF"/>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DAG6YWUW8So</dc:identifier>
  <dcterms:modified xsi:type="dcterms:W3CDTF">2011-08-01T06:04:30Z</dcterms:modified>
  <cp:revision>1</cp:revision>
  <dc:title>Clarifygpt-5 nano</dc:title>
</cp:coreProperties>
</file>